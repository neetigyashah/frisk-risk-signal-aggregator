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reviewer's desk, not the tech. The numbers establish this is a sorting and explaining problem, not a spotting problem. Everything in the next four slides answers one of the three things that go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split — a team working at once, then one lead working step by step — is the core architectural claim. The memory table is the second: what it learns outlives the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steps out loud. This is 'show your working' made real. Point at step 10 — the tool only says something looks odd; the AI had to agree and name the exact payments.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answers 'does it get better?'. Emphasise the three paths, then the learn-only-from-people rule — that is the detail showing we saw the trap coming.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what broke and what it taught, not on the wins. Admitting you found a silent failure — and that you were wrong once and the data corrected you — lands better than claiming it is finished.</a:t>
            </a:r>
          </a:p>
          <a:p/>
          <a:p>
            <a:r>
              <a:t>On latency, if pressed: the 45–90s is roughly 11 AI calls one after another. Most of it is waiting on a shared public API. On dedicated infrastructure — the model hosted in-house, a smaller fast model for routine steps, cached prompts, and many customers processed side by side — the same investigation lands comfortably under 15 seconds without changing any of the logic.</a:t>
            </a:r>
          </a:p>
          <a:p/>
          <a:p>
            <a:r>
              <a:t>If asked about engineering choices: no hard-coded scoring formula · watchlist screening deliberately left out of scope (the brief said “external alerts”) · exact decimal money, never floats · the test data regenerates identically every time · a permanent record of clears as well as escalations · the scratchpad is wiped on every exit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058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71717A"/>
                </a:solidFill>
                <a:latin typeface="Inter"/>
              </a:rPr>
              <a:t>01 ·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800" b="1">
                <a:solidFill>
                  <a:srgbClr val="EDEDF0"/>
                </a:solidFill>
                <a:latin typeface="Inter"/>
              </a:rPr>
              <a:t>Too many alarms. Almost none of them real.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A1A1AA"/>
                </a:solidFill>
                <a:latin typeface="Inter"/>
              </a:rPr>
              <a:t>The hard part is not spotting alarms — it is sorting the real ones from the noise, and proving afterwards why you decided what you did.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WHAT THE INDUSTRY LOOKS LIKE TODAY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486400" cy="42976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9019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EF4444"/>
                </a:solidFill>
                <a:latin typeface="Inter"/>
              </a:rPr>
              <a:t>9 in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1874520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0">
                <a:solidFill>
                  <a:srgbClr val="EDEDF0"/>
                </a:solidFill>
                <a:latin typeface="Inter"/>
              </a:rPr>
              <a:t>alarms turn out to be nothing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19072" y="2048256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71717A"/>
                </a:solidFill>
                <a:latin typeface="Inter"/>
              </a:rPr>
              <a:t>so the real work is sorting, not spotting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331720"/>
            <a:ext cx="5486400" cy="42976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4048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Inter"/>
              </a:rPr>
              <a:t>2–4%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19072" y="2377440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0">
                <a:solidFill>
                  <a:srgbClr val="EDEDF0"/>
                </a:solidFill>
                <a:latin typeface="Inter"/>
              </a:rPr>
              <a:t>of alarms are worth acting 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551176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71717A"/>
                </a:solidFill>
                <a:latin typeface="Inter"/>
              </a:rPr>
              <a:t>almost all the effort leads nowhere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834640"/>
            <a:ext cx="5486400" cy="42976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2907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F97316"/>
                </a:solidFill>
                <a:latin typeface="Inter"/>
              </a:rPr>
              <a:t>70–80%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19072" y="2880360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0">
                <a:solidFill>
                  <a:srgbClr val="EDEDF0"/>
                </a:solidFill>
                <a:latin typeface="Inter"/>
              </a:rPr>
              <a:t>of a reviewer's day is spent on dead ends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19072" y="3054096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71717A"/>
                </a:solidFill>
                <a:latin typeface="Inter"/>
              </a:rPr>
              <a:t>the scarce thing is attention, not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337560"/>
            <a:ext cx="5486400" cy="42976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34107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1">
                <a:solidFill>
                  <a:srgbClr val="A1A1AA"/>
                </a:solidFill>
                <a:latin typeface="Inter"/>
              </a:rPr>
              <a:t>2–5%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19072" y="3383280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0">
                <a:solidFill>
                  <a:srgbClr val="EDEDF0"/>
                </a:solidFill>
                <a:latin typeface="Inter"/>
              </a:rPr>
              <a:t>of the world's money is dirty (UN estimate)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19072" y="3557016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71717A"/>
                </a:solidFill>
                <a:latin typeface="Inter"/>
              </a:rPr>
              <a:t>and missing one is the expensive mistake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877056"/>
            <a:ext cx="54864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71717A"/>
                </a:solidFill>
                <a:latin typeface="Inter"/>
              </a:rPr>
              <a:t>Rough industry figures, not audited numbers — but every source tells the same story.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1572768"/>
            <a:ext cx="533095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ONE CUSTOMER ARRIVES AS FIVE SEPARATE FILES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1828800"/>
            <a:ext cx="5330952" cy="34747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7376" y="1892808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DEDF0"/>
                </a:solidFill>
                <a:latin typeface="Consolas"/>
              </a:rPr>
              <a:t>kyc.txt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10144" y="1901952"/>
            <a:ext cx="8412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form-like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7968" y="1901952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who they say they are, and what they 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2231136"/>
            <a:ext cx="5330952" cy="34747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37376" y="2295144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DEDF0"/>
                </a:solidFill>
                <a:latin typeface="Consolas"/>
              </a:rPr>
              <a:t>account.txt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0144" y="2304288"/>
            <a:ext cx="8412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form-like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304288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how long they have banked here, and where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2633472"/>
            <a:ext cx="5330952" cy="34747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37376" y="2697480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DEDF0"/>
                </a:solidFill>
                <a:latin typeface="Consolas"/>
              </a:rPr>
              <a:t>transactions.txt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0144" y="2706624"/>
            <a:ext cx="8412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table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87968" y="2706624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what they actually did — hundreds of rows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09360" y="3035808"/>
            <a:ext cx="5330952" cy="34747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37376" y="3099816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DEDF0"/>
                </a:solidFill>
                <a:latin typeface="Consolas"/>
              </a:rPr>
              <a:t>rm_notes.txt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10144" y="3108960"/>
            <a:ext cx="8412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F97316"/>
                </a:solidFill>
                <a:latin typeface="Inter"/>
              </a:rPr>
              <a:t>prose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87968" y="3108960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their banker's gut feeling, written out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09360" y="3438144"/>
            <a:ext cx="5330952" cy="34747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37376" y="350215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DEDF0"/>
                </a:solidFill>
                <a:latin typeface="Consolas"/>
              </a:rPr>
              <a:t>id_document.txt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10144" y="3511296"/>
            <a:ext cx="8412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F97316"/>
                </a:solidFill>
                <a:latin typeface="Inter"/>
              </a:rPr>
              <a:t>prose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87968" y="3511296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what the ID scan actually said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3877056"/>
            <a:ext cx="5330952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0">
                <a:solidFill>
                  <a:srgbClr val="A1A1AA"/>
                </a:solidFill>
                <a:latin typeface="Inter"/>
              </a:rPr>
              <a:t>The two files that give the game away are plain English. </a:t>
            </a:r>
            <a:r>
              <a:rPr sz="900" b="1">
                <a:solidFill>
                  <a:srgbClr val="F97316"/>
                </a:solidFill>
                <a:latin typeface="Inter"/>
              </a:rPr>
              <a:t>Traditional software cannot read them.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4352544"/>
            <a:ext cx="1109167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SO THREE THINGS GO WRONG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" y="4590288"/>
            <a:ext cx="3593592" cy="71323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48640" y="4590288"/>
            <a:ext cx="38100" cy="713232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4654296"/>
            <a:ext cx="32826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EF4444"/>
                </a:solidFill>
                <a:latin typeface="Inter"/>
              </a:rPr>
              <a:t>It is slow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4855464"/>
            <a:ext cx="3300984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Minutes per customer, and nobody knows who to open first — so the worst case might be read last.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288536" y="4590288"/>
            <a:ext cx="3593592" cy="71323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288536" y="4590288"/>
            <a:ext cx="38100" cy="71323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71416" y="4654296"/>
            <a:ext cx="32826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F59E0B"/>
                </a:solidFill>
                <a:latin typeface="Inter"/>
              </a:rPr>
              <a:t>It is inconsistent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1416" y="4855464"/>
            <a:ext cx="3300984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Give the same file to two reviewers and you get two different answers. Nobody agrees on the yardstick.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28432" y="4590288"/>
            <a:ext cx="3593592" cy="71323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028432" y="4590288"/>
            <a:ext cx="38100" cy="713232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11312" y="4654296"/>
            <a:ext cx="32826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F97316"/>
                </a:solidFill>
                <a:latin typeface="Inter"/>
              </a:rPr>
              <a:t>Nobody can explain it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11312" y="4855464"/>
            <a:ext cx="3300984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The thinking stays in someone's head. Ask six months later why a customer was let through, and you get a shrug.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48640" y="5468112"/>
            <a:ext cx="11091672" cy="969264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8096" y="5568696"/>
            <a:ext cx="10607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71717A"/>
                </a:solidFill>
                <a:latin typeface="Inter"/>
              </a:rPr>
              <a:t>WHAT WE SET OUT TO BUILD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" y="5779008"/>
            <a:ext cx="106527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1">
                <a:solidFill>
                  <a:srgbClr val="EDEDF0"/>
                </a:solidFill>
                <a:latin typeface="Inter"/>
              </a:rPr>
              <a:t>Do the first pass. </a:t>
            </a:r>
            <a:r>
              <a:rPr sz="1100" b="0">
                <a:solidFill>
                  <a:srgbClr val="A1A1AA"/>
                </a:solidFill>
                <a:latin typeface="Inter"/>
              </a:rPr>
              <a:t>Read every file, dig like a good reviewer would, put the whole customer list in order of risk, and show the working — so a person starts with evidence instead of a blank page.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A1A1AA"/>
                </a:solidFill>
                <a:latin typeface="Inter"/>
              </a:rPr>
              <a:t>Missing a real bad actor is a disaster; a false alarm is just costly. So the system has to </a:t>
            </a:r>
            <a:r>
              <a:rPr sz="1100" b="1">
                <a:solidFill>
                  <a:srgbClr val="F97316"/>
                </a:solidFill>
                <a:latin typeface="Inter"/>
              </a:rPr>
              <a:t>admit when it is unsure and hand over</a:t>
            </a:r>
            <a:r>
              <a:rPr sz="1100" b="0">
                <a:solidFill>
                  <a:srgbClr val="A1A1AA"/>
                </a:solidFill>
                <a:latin typeface="Inter"/>
              </a:rPr>
              <a:t>, instead of bluffing. That one rule shaped the whole design.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058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71717A"/>
                </a:solidFill>
                <a:latin typeface="Inter"/>
              </a:rPr>
              <a:t>02 · HOW WE BUILT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800" b="1">
                <a:solidFill>
                  <a:srgbClr val="EDEDF0"/>
                </a:solidFill>
                <a:latin typeface="Inter"/>
              </a:rPr>
              <a:t>A team of AI specialists, then one lead investigator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A1A1AA"/>
                </a:solidFill>
                <a:latin typeface="Inter"/>
              </a:rPr>
              <a:t>Four steps per customer. No scoring formula anywhere in the code — the AI decides the number; the code hands it the tools, the memory, and rules it cannot break.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9344"/>
            <a:ext cx="2487168" cy="129844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709928"/>
            <a:ext cx="22311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7DD3FC"/>
                </a:solidFill>
                <a:latin typeface="Inter"/>
              </a:rPr>
              <a:t>1 · GATHER THE 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956816"/>
            <a:ext cx="2231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five separate files in,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one tidy case folder out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/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→ nothing is left unread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4992" y="1609344"/>
            <a:ext cx="2487168" cy="129844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93008" y="1709928"/>
            <a:ext cx="22311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5EEAD4"/>
                </a:solidFill>
                <a:latin typeface="Inter"/>
              </a:rPr>
              <a:t>2 · REMEMBER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1956816"/>
            <a:ext cx="2231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what we knew about them before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how we handled similar people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lessons from past corrections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/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the AML rulebook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609344"/>
            <a:ext cx="2487168" cy="129844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709928"/>
            <a:ext cx="22311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C4B5FD"/>
                </a:solidFill>
                <a:latin typeface="Inter"/>
              </a:rPr>
              <a:t>3 · INVESTIGATE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956816"/>
            <a:ext cx="2231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3 specialists work AT ONCE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   background · money · papers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/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1 lead works STEP BY STEP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   asks, reads, then decides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97696" y="1609344"/>
            <a:ext cx="2487168" cy="129844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25712" y="1709928"/>
            <a:ext cx="22311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FDBA74"/>
                </a:solidFill>
                <a:latin typeface="Inter"/>
              </a:rPr>
              <a:t>4 · DECIDE + LEARN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25712" y="1956816"/>
            <a:ext cx="2231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sure enough → decide it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not sure → ask a person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/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their answer → remembered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072384" y="2185416"/>
            <a:ext cx="256032" cy="146304"/>
          </a:xfrm>
          <a:prstGeom prst="rightArrow">
            <a:avLst/>
          </a:prstGeom>
          <a:solidFill>
            <a:srgbClr val="3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5888736" y="2185416"/>
            <a:ext cx="256032" cy="146304"/>
          </a:xfrm>
          <a:prstGeom prst="rightArrow">
            <a:avLst/>
          </a:prstGeom>
          <a:solidFill>
            <a:srgbClr val="3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>
            <a:off x="8705088" y="2185416"/>
            <a:ext cx="256032" cy="146304"/>
          </a:xfrm>
          <a:prstGeom prst="rightArrow">
            <a:avLst/>
          </a:prstGeom>
          <a:solidFill>
            <a:srgbClr val="3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145536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WHY A TEAM, AND THEN A LEAD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3383280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4E4E7"/>
                </a:solidFill>
                <a:latin typeface="Inter"/>
              </a:rPr>
              <a:t>The 3 specialists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3383280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4E4E7"/>
                </a:solidFill>
                <a:latin typeface="Inter"/>
              </a:rPr>
              <a:t>The lead investigator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593592"/>
            <a:ext cx="5358384" cy="265176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0515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71717A"/>
                </a:solidFill>
                <a:latin typeface="Inter"/>
              </a:rPr>
              <a:t>How they 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3621024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all three at once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03320" y="3621024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one step at a time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904488"/>
            <a:ext cx="10515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71717A"/>
                </a:solidFill>
                <a:latin typeface="Inter"/>
              </a:rPr>
              <a:t>What they see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37360" y="390448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only their own topic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3904488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all 3 views + the whole file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160520"/>
            <a:ext cx="5358384" cy="265176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4187952"/>
            <a:ext cx="10515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71717A"/>
                </a:solidFill>
                <a:latin typeface="Inter"/>
              </a:rPr>
              <a:t>What they give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4187952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an opinion, not a verdict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3320" y="4187952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the final call, with reasons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4471416"/>
            <a:ext cx="10515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71717A"/>
                </a:solidFill>
                <a:latin typeface="Inter"/>
              </a:rPr>
              <a:t>Why this way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37360" y="4471416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fast, and no groupthink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3320" y="4471416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each answer shapes the next question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3145536"/>
            <a:ext cx="537667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FIVE KINDS OF MEMORY IT CAN DRAW 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63640" y="3401568"/>
            <a:ext cx="5376672" cy="30175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373368" y="3502152"/>
            <a:ext cx="91440" cy="91440"/>
          </a:xfrm>
          <a:prstGeom prst="roundRect">
            <a:avLst>
              <a:gd name="adj" fmla="val 6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65392" y="3447288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EDEDF0"/>
                </a:solidFill>
                <a:latin typeface="Inter"/>
              </a:rPr>
              <a:t>Scratchpad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0" y="3456432"/>
            <a:ext cx="148132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750" b="0">
                <a:solidFill>
                  <a:srgbClr val="F97316"/>
                </a:solidFill>
                <a:latin typeface="Consolas"/>
              </a:rPr>
              <a:t>working memory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08592" y="3447288"/>
            <a:ext cx="15361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notes it takes as it goes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99648" y="3456432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750" b="0">
                <a:solidFill>
                  <a:srgbClr val="71717A"/>
                </a:solidFill>
                <a:latin typeface="Inter"/>
              </a:rPr>
              <a:t>wiped when done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3739896"/>
            <a:ext cx="5376672" cy="301752"/>
          </a:xfrm>
          <a:prstGeom prst="roundRect">
            <a:avLst>
              <a:gd name="adj" fmla="val 6000"/>
            </a:avLst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373368" y="3840480"/>
            <a:ext cx="91440" cy="91440"/>
          </a:xfrm>
          <a:prstGeom prst="roundRect">
            <a:avLst>
              <a:gd name="adj" fmla="val 6000"/>
            </a:avLst>
          </a:prstGeom>
          <a:solidFill>
            <a:srgbClr val="717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65392" y="3785616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EDEDF0"/>
                </a:solidFill>
                <a:latin typeface="Inter"/>
              </a:rPr>
              <a:t>This person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794760"/>
            <a:ext cx="148132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750" b="0">
                <a:solidFill>
                  <a:srgbClr val="71717A"/>
                </a:solidFill>
                <a:latin typeface="Consolas"/>
              </a:rPr>
              <a:t>per-customer history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08592" y="3785616"/>
            <a:ext cx="15361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how we judged them before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99648" y="3794760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750" b="0">
                <a:solidFill>
                  <a:srgbClr val="71717A"/>
                </a:solidFill>
                <a:latin typeface="Inter"/>
              </a:rPr>
              <a:t>kept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63640" y="4078224"/>
            <a:ext cx="5376672" cy="30175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373368" y="4178808"/>
            <a:ext cx="91440" cy="91440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65392" y="4123944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EDEDF0"/>
                </a:solidFill>
                <a:latin typeface="Inter"/>
              </a:rPr>
              <a:t>Past cases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0" y="4133088"/>
            <a:ext cx="148132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750" b="0">
                <a:solidFill>
                  <a:srgbClr val="14B8A6"/>
                </a:solidFill>
                <a:latin typeface="Consolas"/>
              </a:rPr>
              <a:t>episodic recall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08592" y="4123944"/>
            <a:ext cx="15361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people who looked like this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99648" y="4133088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750" b="0">
                <a:solidFill>
                  <a:srgbClr val="71717A"/>
                </a:solidFill>
                <a:latin typeface="Inter"/>
              </a:rPr>
              <a:t>kept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263640" y="4416551"/>
            <a:ext cx="5376672" cy="301752"/>
          </a:xfrm>
          <a:prstGeom prst="roundRect">
            <a:avLst>
              <a:gd name="adj" fmla="val 6000"/>
            </a:avLst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373368" y="4517135"/>
            <a:ext cx="91440" cy="91440"/>
          </a:xfrm>
          <a:prstGeom prst="roundRect">
            <a:avLst>
              <a:gd name="adj" fmla="val 6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65392" y="4462271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EDEDF0"/>
                </a:solidFill>
                <a:latin typeface="Inter"/>
              </a:rPr>
              <a:t>The rulebook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72400" y="4471415"/>
            <a:ext cx="148132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750" b="0">
                <a:solidFill>
                  <a:srgbClr val="0EA5E9"/>
                </a:solidFill>
                <a:latin typeface="Consolas"/>
              </a:rPr>
              <a:t>semantic memory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308592" y="4462271"/>
            <a:ext cx="15361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what each pattern means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99648" y="4471415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750" b="0">
                <a:solidFill>
                  <a:srgbClr val="71717A"/>
                </a:solidFill>
                <a:latin typeface="Inter"/>
              </a:rPr>
              <a:t>fixed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263640" y="4754880"/>
            <a:ext cx="5376672" cy="30175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373368" y="4855464"/>
            <a:ext cx="91440" cy="91440"/>
          </a:xfrm>
          <a:prstGeom prst="roundRect">
            <a:avLst>
              <a:gd name="adj" fmla="val 6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65392" y="4800600"/>
            <a:ext cx="1170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EDEDF0"/>
                </a:solidFill>
                <a:latin typeface="Inter"/>
              </a:rPr>
              <a:t>Lessons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72400" y="4809744"/>
            <a:ext cx="148132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750" b="0">
                <a:solidFill>
                  <a:srgbClr val="8B5CF6"/>
                </a:solidFill>
                <a:latin typeface="Consolas"/>
              </a:rPr>
              <a:t>procedural memory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08592" y="4800600"/>
            <a:ext cx="15361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where we got it wrong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899648" y="4809744"/>
            <a:ext cx="731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750" b="0">
                <a:solidFill>
                  <a:srgbClr val="71717A"/>
                </a:solidFill>
                <a:latin typeface="Inter"/>
              </a:rPr>
              <a:t>grows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48640" y="4974336"/>
            <a:ext cx="5486400" cy="969264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49808" y="5074920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71717A"/>
                </a:solidFill>
                <a:latin typeface="Inter"/>
              </a:rPr>
              <a:t>THE DECISION WE ARGUED ABOUT MOST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9808" y="5285232"/>
            <a:ext cx="513892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50" b="0">
                <a:solidFill>
                  <a:srgbClr val="A1A1AA"/>
                </a:solidFill>
                <a:latin typeface="Inter"/>
              </a:rPr>
              <a:t>The lead works </a:t>
            </a:r>
            <a:r>
              <a:rPr sz="950" b="1">
                <a:solidFill>
                  <a:srgbClr val="EDEDF0"/>
                </a:solidFill>
                <a:latin typeface="Inter"/>
              </a:rPr>
              <a:t>one step at a time</a:t>
            </a:r>
            <a:r>
              <a:rPr sz="950" b="0">
                <a:solidFill>
                  <a:srgbClr val="A1A1AA"/>
                </a:solidFill>
                <a:latin typeface="Inter"/>
              </a:rPr>
              <a:t> because real investigation is like that — you cannot know which document to open until you have seen the money. The three specialists work </a:t>
            </a:r>
            <a:r>
              <a:rPr sz="950" b="1">
                <a:solidFill>
                  <a:srgbClr val="EDEDF0"/>
                </a:solidFill>
                <a:latin typeface="Inter"/>
              </a:rPr>
              <a:t>all at once</a:t>
            </a:r>
            <a:r>
              <a:rPr sz="950" b="0">
                <a:solidFill>
                  <a:srgbClr val="A1A1AA"/>
                </a:solidFill>
                <a:latin typeface="Inter"/>
              </a:rPr>
              <a:t> because their topics never overlap.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263640" y="4974336"/>
            <a:ext cx="5376672" cy="969264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64808" y="5074920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71717A"/>
                </a:solidFill>
                <a:latin typeface="Inter"/>
              </a:rPr>
              <a:t>WHY IT REMEMBERS BEFORE IT THINKS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64808" y="5285232"/>
            <a:ext cx="502920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50" b="0">
                <a:solidFill>
                  <a:srgbClr val="A1A1AA"/>
                </a:solidFill>
                <a:latin typeface="Inter"/>
              </a:rPr>
              <a:t>Memory is loaded </a:t>
            </a:r>
            <a:r>
              <a:rPr sz="950" b="1">
                <a:solidFill>
                  <a:srgbClr val="EDEDF0"/>
                </a:solidFill>
                <a:latin typeface="Inter"/>
              </a:rPr>
              <a:t>before</a:t>
            </a:r>
            <a:r>
              <a:rPr sz="950" b="0">
                <a:solidFill>
                  <a:srgbClr val="A1A1AA"/>
                </a:solidFill>
                <a:latin typeface="Inter"/>
              </a:rPr>
              <a:t> anyone starts thinking, so every part of the pipeline works from the same background — past judgements, similar people, and lessons a human taught it. That is the difference between a system and a clever prompt.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058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71717A"/>
                </a:solidFill>
                <a:latin typeface="Inter"/>
              </a:rPr>
              <a:t>03 · WHAT IT ACTUALLY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800" b="1">
                <a:solidFill>
                  <a:srgbClr val="EDEDF0"/>
                </a:solidFill>
                <a:latin typeface="Inter"/>
              </a:rPr>
              <a:t>It digs, it points at the evidence, it shows the 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A1A1AA"/>
                </a:solidFill>
                <a:latin typeface="Inter"/>
              </a:rPr>
              <a:t>A real investigation of CUST_018 — a customer whose money did not match his story. Every step below was recorded automatically. That record is the receipt.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5669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WHAT IT DID, IN ITS OWN ORDER — 12 STEPS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669280" cy="29260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74520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C4B5FD"/>
                </a:solidFill>
                <a:latin typeface="Consolas"/>
              </a:rPr>
              <a:t>read_document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6624" y="1874520"/>
            <a:ext cx="34381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opened the ID scan — passport checks out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76272"/>
            <a:ext cx="5669280" cy="29260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2199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221992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C4B5FD"/>
                </a:solidFill>
                <a:latin typeface="Consolas"/>
              </a:rPr>
              <a:t>read_document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06624" y="2221992"/>
            <a:ext cx="34381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read the banker's notes — “can't explain his income”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523744"/>
            <a:ext cx="5669280" cy="29260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6946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569464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C4B5FD"/>
                </a:solidFill>
                <a:latin typeface="Consolas"/>
              </a:rPr>
              <a:t>query_transactions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6624" y="2569464"/>
            <a:ext cx="34381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pulled all 31 payments, £62,174 coming 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871216"/>
            <a:ext cx="5669280" cy="29260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91693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4-9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2916936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C4B5FD"/>
                </a:solidFill>
                <a:latin typeface="Consolas"/>
              </a:rPr>
              <a:t>query_transactions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06624" y="2916936"/>
            <a:ext cx="34381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sliced them six ways — cash, who, when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218688"/>
            <a:ext cx="5669280" cy="29260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26440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264408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C4B5FD"/>
                </a:solidFill>
                <a:latin typeface="Consolas"/>
              </a:rPr>
              <a:t>find_txn_patterns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06624" y="3264408"/>
            <a:ext cx="34381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spotted a possible pattern in rows S00–S03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566160"/>
            <a:ext cx="5669280" cy="29260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61188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611880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C4B5FD"/>
                </a:solidFill>
                <a:latin typeface="Consolas"/>
              </a:rPr>
              <a:t>note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06624" y="3611880"/>
            <a:ext cx="34381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wrote itself: “4 deposits just under the limit, 6 days”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3913632"/>
            <a:ext cx="5669280" cy="292608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95935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3959352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EF4444"/>
                </a:solidFill>
                <a:latin typeface="Consolas"/>
              </a:rPr>
              <a:t>finalize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06624" y="3959352"/>
            <a:ext cx="34381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EDEDF0"/>
                </a:solidFill>
                <a:latin typeface="Inter"/>
              </a:rPr>
              <a:t>decided: 83 · HIGH RISK · send to a senior · 85% sure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1572768"/>
            <a:ext cx="510235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THE ANSWER COMES WITH ITS RECEIPTS ATTACHED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37960" y="1828800"/>
            <a:ext cx="5102352" cy="1280160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20840" y="1901952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600" b="1">
                <a:solidFill>
                  <a:srgbClr val="EF4444"/>
                </a:solidFill>
                <a:latin typeface="Inter"/>
              </a:rPr>
              <a:t>83</a:t>
            </a:r>
            <a:r>
              <a:rPr sz="1100" b="0">
                <a:solidFill>
                  <a:srgbClr val="71717A"/>
                </a:solidFill>
                <a:latin typeface="Inter"/>
              </a:rPr>
              <a:t> / 100</a:t>
            </a:r>
            <a:r>
              <a:rPr sz="1200" b="1">
                <a:solidFill>
                  <a:srgbClr val="EF4444"/>
                </a:solidFill>
                <a:latin typeface="Inter"/>
              </a:rPr>
              <a:t>    HIGH RISK · SEND TO A SENIOR</a:t>
            </a:r>
            <a:r>
              <a:rPr sz="1000" b="0">
                <a:solidFill>
                  <a:srgbClr val="A1A1AA"/>
                </a:solidFill>
                <a:latin typeface="Inter"/>
              </a:rPr>
              <a:t>   85% sure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2304288"/>
            <a:ext cx="4773168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850" b="0">
                <a:solidFill>
                  <a:srgbClr val="71717A"/>
                </a:solidFill>
                <a:latin typeface="Inter"/>
              </a:rPr>
              <a:t>Proof it points at:  </a:t>
            </a:r>
            <a:r>
              <a:rPr sz="850" b="0">
                <a:solidFill>
                  <a:srgbClr val="22C55E"/>
                </a:solidFill>
                <a:latin typeface="Consolas"/>
              </a:rPr>
              <a:t>payments S00, S01, S02, S03  ·  the banker's notes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850" b="0">
                <a:solidFill>
                  <a:srgbClr val="71717A"/>
                </a:solidFill>
                <a:latin typeface="Inter"/>
              </a:rPr>
              <a:t>Why:  </a:t>
            </a:r>
            <a:r>
              <a:rPr sz="850" b="0">
                <a:solidFill>
                  <a:srgbClr val="A1A1AA"/>
                </a:solidFill>
                <a:latin typeface="Inter"/>
              </a:rPr>
              <a:t>home country carries elevated risk · line of work is high-risk · four cash deposits totalling $37k, each kept just under the reporting limit, all inside six days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3273552"/>
            <a:ext cx="510235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FOUR RULES IT IS NOT ALLOWED TO BREAK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37960" y="3529584"/>
            <a:ext cx="5102352" cy="45720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5120" y="3593592"/>
            <a:ext cx="48371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22C55E"/>
                </a:solidFill>
                <a:latin typeface="Inter"/>
              </a:rPr>
              <a:t>It cannot make up proof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0" y="3794760"/>
            <a:ext cx="4855464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every reference is checked against what the tools really returned — invented ones are thrown out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37960" y="4032504"/>
            <a:ext cx="5102352" cy="45720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75120" y="4096512"/>
            <a:ext cx="48371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22C55E"/>
                </a:solidFill>
                <a:latin typeface="Inter"/>
              </a:rPr>
              <a:t>It cannot ramble forever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75120" y="4297680"/>
            <a:ext cx="4855464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12 steps maximum; run past that and a person picks it up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37960" y="4535424"/>
            <a:ext cx="5102352" cy="45720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5120" y="4599432"/>
            <a:ext cx="48371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22C55E"/>
                </a:solidFill>
                <a:latin typeface="Inter"/>
              </a:rPr>
              <a:t>It cannot come back empty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75120" y="4800600"/>
            <a:ext cx="4855464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even if something crashes, you still get a real decision, routed to a person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537960" y="5038344"/>
            <a:ext cx="5102352" cy="45720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0" y="5102352"/>
            <a:ext cx="48371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22C55E"/>
                </a:solidFill>
                <a:latin typeface="Inter"/>
              </a:rPr>
              <a:t>Tools suggest, AI decides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75120" y="5303520"/>
            <a:ext cx="4855464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the pattern scanner only says “this looks odd” — the AI has to agree and point at the rows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4443984"/>
            <a:ext cx="5669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AND IT RAN THE WHOLE BOOK, START TO FINISH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48640" y="4681728"/>
            <a:ext cx="1088136" cy="56692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4736592"/>
            <a:ext cx="9052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700" b="1">
                <a:solidFill>
                  <a:srgbClr val="71717A"/>
                </a:solidFill>
                <a:latin typeface="Inter"/>
              </a:rPr>
              <a:t>CUSTOMERS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901184"/>
            <a:ext cx="9052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EDEDF0"/>
                </a:solidFill>
                <a:latin typeface="Inter"/>
              </a:rPr>
              <a:t>22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691640" y="4681728"/>
            <a:ext cx="1088136" cy="56692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783080" y="4736592"/>
            <a:ext cx="9052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700" b="1">
                <a:solidFill>
                  <a:srgbClr val="71717A"/>
                </a:solidFill>
                <a:latin typeface="Inter"/>
              </a:rPr>
              <a:t>CLEARED ON ITS OWN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783080" y="4901184"/>
            <a:ext cx="9052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22C55E"/>
                </a:solidFill>
                <a:latin typeface="Inter"/>
              </a:rPr>
              <a:t>27%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834640" y="4681728"/>
            <a:ext cx="1088136" cy="56692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926080" y="4736592"/>
            <a:ext cx="9052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700" b="1">
                <a:solidFill>
                  <a:srgbClr val="71717A"/>
                </a:solidFill>
                <a:latin typeface="Inter"/>
              </a:rPr>
              <a:t>SENT UP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926080" y="4901184"/>
            <a:ext cx="9052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EF4444"/>
                </a:solidFill>
                <a:latin typeface="Inter"/>
              </a:rPr>
              <a:t>3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977640" y="4681728"/>
            <a:ext cx="1088136" cy="56692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69080" y="4736592"/>
            <a:ext cx="9052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700" b="1">
                <a:solidFill>
                  <a:srgbClr val="71717A"/>
                </a:solidFill>
                <a:latin typeface="Inter"/>
              </a:rPr>
              <a:t>ASKED A HUMAN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69080" y="4901184"/>
            <a:ext cx="9052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F97316"/>
                </a:solidFill>
                <a:latin typeface="Inter"/>
              </a:rPr>
              <a:t>1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120640" y="4681728"/>
            <a:ext cx="1088136" cy="56692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12080" y="4736592"/>
            <a:ext cx="9052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700" b="1">
                <a:solidFill>
                  <a:srgbClr val="71717A"/>
                </a:solidFill>
                <a:latin typeface="Inter"/>
              </a:rPr>
              <a:t>TESTS PASS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80" y="4901184"/>
            <a:ext cx="9052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22C55E"/>
                </a:solidFill>
                <a:latin typeface="Inter"/>
              </a:rPr>
              <a:t>14 ✓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5486400"/>
            <a:ext cx="5669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SAME AI, TWO VERY DIFFERENT CUSTOMERS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48640" y="5724144"/>
            <a:ext cx="5669280" cy="38404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94944" y="5797296"/>
            <a:ext cx="5394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DEDF0"/>
                </a:solidFill>
                <a:latin typeface="Consolas"/>
              </a:rPr>
              <a:t>CUST_018</a:t>
            </a:r>
            <a:r>
              <a:rPr sz="850" b="0">
                <a:solidFill>
                  <a:srgbClr val="A1A1AA"/>
                </a:solidFill>
                <a:latin typeface="Inter"/>
              </a:rPr>
              <a:t>  odd cash, odd story → </a:t>
            </a:r>
            <a:r>
              <a:rPr sz="950" b="1">
                <a:solidFill>
                  <a:srgbClr val="EF4444"/>
                </a:solidFill>
                <a:latin typeface="Inter"/>
              </a:rPr>
              <a:t>83 · SEND TO A SENIOR</a:t>
            </a:r>
            <a:r>
              <a:rPr sz="850" b="0">
                <a:solidFill>
                  <a:srgbClr val="A1A1AA"/>
                </a:solidFill>
                <a:latin typeface="Inter"/>
              </a:rPr>
              <a:t> · 85% sure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48640" y="6181344"/>
            <a:ext cx="5669280" cy="38404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94944" y="6254496"/>
            <a:ext cx="5394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DEDF0"/>
                </a:solidFill>
                <a:latin typeface="Consolas"/>
              </a:rPr>
              <a:t>CUST_000</a:t>
            </a:r>
            <a:r>
              <a:rPr sz="850" b="0">
                <a:solidFill>
                  <a:srgbClr val="A1A1AA"/>
                </a:solidFill>
                <a:latin typeface="Inter"/>
              </a:rPr>
              <a:t>  teacher, salary in, rent out → </a:t>
            </a:r>
            <a:r>
              <a:rPr sz="950" b="1">
                <a:solidFill>
                  <a:srgbClr val="22C55E"/>
                </a:solidFill>
                <a:latin typeface="Inter"/>
              </a:rPr>
              <a:t>5 · CLEARED</a:t>
            </a:r>
            <a:r>
              <a:rPr sz="850" b="0">
                <a:solidFill>
                  <a:srgbClr val="A1A1AA"/>
                </a:solidFill>
                <a:latin typeface="Inter"/>
              </a:rPr>
              <a:t> · 95% sure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058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71717A"/>
                </a:solidFill>
                <a:latin typeface="Inter"/>
              </a:rPr>
              <a:t>04 · HUMAN-IN-THE-LOOP · WHERE PEOPLE COME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800" b="1">
                <a:solidFill>
                  <a:srgbClr val="EDEDF0"/>
                </a:solidFill>
                <a:latin typeface="Inter"/>
              </a:rPr>
              <a:t>When it is unsure, it asks. And it remembers your answer.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A1A1AA"/>
                </a:solidFill>
                <a:latin typeface="Inter"/>
              </a:rPr>
              <a:t>The AI says how sure it is. If it is not sure enough, a person decides instead — and that correction makes the whole system better, three different 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2194560" cy="603504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709928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100" b="1">
                <a:solidFill>
                  <a:srgbClr val="EDEDF0"/>
                </a:solidFill>
                <a:latin typeface="Inter"/>
              </a:rPr>
              <a:t>A decision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+ how sure the AI says it is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816352" y="1856232"/>
            <a:ext cx="256032" cy="146304"/>
          </a:xfrm>
          <a:prstGeom prst="rightArrow">
            <a:avLst/>
          </a:prstGeom>
          <a:solidFill>
            <a:srgbClr val="3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00400" y="1627632"/>
            <a:ext cx="1920240" cy="603504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792224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E4E4E7"/>
                </a:solidFill>
                <a:latin typeface="Inter"/>
              </a:rPr>
              <a:t>at least 60% sure?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13248" y="1517904"/>
            <a:ext cx="2432304" cy="50292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41264" y="161848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22C55E"/>
                </a:solidFill>
                <a:latin typeface="Inter"/>
              </a:rPr>
              <a:t>YES → </a:t>
            </a:r>
            <a:r>
              <a:rPr sz="950" b="0">
                <a:solidFill>
                  <a:srgbClr val="A1A1AA"/>
                </a:solidFill>
                <a:latin typeface="Inter"/>
              </a:rPr>
              <a:t>it decides on its own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13248" y="2112264"/>
            <a:ext cx="2432304" cy="50292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41264" y="221284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F97316"/>
                </a:solidFill>
                <a:latin typeface="Inter"/>
              </a:rPr>
              <a:t>NO → </a:t>
            </a:r>
            <a:r>
              <a:rPr sz="950" b="0">
                <a:solidFill>
                  <a:srgbClr val="A1A1AA"/>
                </a:solidFill>
                <a:latin typeface="Inter"/>
              </a:rPr>
              <a:t>it goes in a person's queue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955279" y="2231136"/>
            <a:ext cx="256032" cy="146304"/>
          </a:xfrm>
          <a:prstGeom prst="rightArrow">
            <a:avLst/>
          </a:prstGeom>
          <a:solidFill>
            <a:srgbClr val="3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21040" y="2029968"/>
            <a:ext cx="3319272" cy="603504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67344" y="2130552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000" b="1">
                <a:solidFill>
                  <a:srgbClr val="EDEDF0"/>
                </a:solidFill>
                <a:latin typeface="Inter"/>
              </a:rPr>
              <a:t>A person sets the right answer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and sees everything the AI saw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889504"/>
            <a:ext cx="5486400" cy="1225296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299008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71717A"/>
                </a:solidFill>
                <a:latin typeface="Inter"/>
              </a:rPr>
              <a:t>WHY WE ASK “HOW SURE?” AND NOT “HOW BAD?”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218688"/>
            <a:ext cx="5157216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50" b="0">
                <a:solidFill>
                  <a:srgbClr val="A1A1AA"/>
                </a:solidFill>
                <a:latin typeface="Inter"/>
              </a:rPr>
              <a:t>A middling score is not automatically a doubtful one — the AI can be very sure a customer is a plain, boring 58. What matters is whether </a:t>
            </a:r>
            <a:r>
              <a:rPr sz="950" b="1">
                <a:solidFill>
                  <a:srgbClr val="EDEDF0"/>
                </a:solidFill>
                <a:latin typeface="Inter"/>
              </a:rPr>
              <a:t>the evidence really backs the answer</a:t>
            </a:r>
            <a:r>
              <a:rPr sz="950" b="0">
                <a:solidFill>
                  <a:srgbClr val="A1A1AA"/>
                </a:solidFill>
                <a:latin typeface="Inter"/>
              </a:rPr>
              <a:t>. We ask the AI to rate its own certainty and we tell it plainly that shaky cases go to a person — so </a:t>
            </a:r>
            <a:r>
              <a:rPr sz="950" b="1">
                <a:solidFill>
                  <a:srgbClr val="22C55E"/>
                </a:solidFill>
                <a:latin typeface="Inter"/>
              </a:rPr>
              <a:t>owning up to doubt is the winning move</a:t>
            </a:r>
            <a:r>
              <a:rPr sz="950" b="0">
                <a:solidFill>
                  <a:srgbClr val="A1A1AA"/>
                </a:solidFill>
                <a:latin typeface="Inter"/>
              </a:rPr>
              <a:t>, not a failure.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79392"/>
            <a:ext cx="5486400" cy="969264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4379976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71717A"/>
                </a:solidFill>
                <a:latin typeface="Inter"/>
              </a:rPr>
              <a:t>THE PERSON SEES EVERYTHING — NOTHING IS HIDDEN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599432"/>
            <a:ext cx="5157216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50" b="0">
                <a:solidFill>
                  <a:srgbClr val="A1A1AA"/>
                </a:solidFill>
                <a:latin typeface="Inter"/>
              </a:rPr>
              <a:t>The suggested score and how sure it was · all three specialists' views, including where they disagreed · every step it took · the notes it wrote itself · and exactly what it remembered before starting.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2889504"/>
            <a:ext cx="537667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ONE CORRECTION TEACHES IT THREE WAYS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145536"/>
            <a:ext cx="5376672" cy="493776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145536"/>
            <a:ext cx="38100" cy="4937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20954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DEDF0"/>
                </a:solidFill>
                <a:latin typeface="Inter"/>
              </a:rPr>
              <a:t>1 · a worked example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7968" y="321868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750" b="0">
                <a:solidFill>
                  <a:srgbClr val="14B8A6"/>
                </a:solidFill>
                <a:latin typeface="Consolas"/>
              </a:rPr>
              <a:t>episodic memory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410712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the next customer who looks like this gets shown your answer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3694176"/>
            <a:ext cx="5376672" cy="493776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3694176"/>
            <a:ext cx="38100" cy="49377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75818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DEDF0"/>
                </a:solidFill>
                <a:latin typeface="Inter"/>
              </a:rPr>
              <a:t>2 · a written lesson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87968" y="376732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750" b="0">
                <a:solidFill>
                  <a:srgbClr val="8B5CF6"/>
                </a:solidFill>
                <a:latin typeface="Consolas"/>
              </a:rPr>
              <a:t>procedural memory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3959352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turned into a rule of thumb it reads before every future case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4242816"/>
            <a:ext cx="5376672" cy="493776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4242816"/>
            <a:ext cx="38100" cy="493776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4306824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DEDF0"/>
                </a:solidFill>
                <a:latin typeface="Inter"/>
              </a:rPr>
              <a:t>3 · a note on that person's file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87968" y="431596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750" b="0">
                <a:solidFill>
                  <a:srgbClr val="0EA5E9"/>
                </a:solidFill>
                <a:latin typeface="Consolas"/>
              </a:rPr>
              <a:t>per-customer history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4507992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next time this customer comes round, it sees what changed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3640" y="4791456"/>
            <a:ext cx="53766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71717A"/>
                </a:solidFill>
                <a:latin typeface="Inter"/>
              </a:rPr>
              <a:t>Most systems manage one of these. Three means your single correction improves </a:t>
            </a:r>
            <a:r>
              <a:rPr sz="850" b="1">
                <a:solidFill>
                  <a:srgbClr val="A1A1AA"/>
                </a:solidFill>
                <a:latin typeface="Inter"/>
              </a:rPr>
              <a:t>similar cases, every case, and this one</a:t>
            </a:r>
            <a:r>
              <a:rPr sz="850" b="0">
                <a:solidFill>
                  <a:srgbClr val="71717A"/>
                </a:solidFill>
                <a:latin typeface="Inter"/>
              </a:rPr>
              <a:t>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5138928"/>
            <a:ext cx="5376672" cy="1060704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46520" y="5239512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22C55E"/>
                </a:solidFill>
                <a:latin typeface="Inter"/>
              </a:rPr>
              <a:t>IT ONLY LEARNS FROM PEOPLE, NEVER FROM ITSELF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5458968"/>
            <a:ext cx="512064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50" b="0">
                <a:solidFill>
                  <a:srgbClr val="A1A1AA"/>
                </a:solidFill>
                <a:latin typeface="Inter"/>
              </a:rPr>
              <a:t>It only copies from cases a human actually checked. If it were allowed to learn from its own unchecked work, one early mistake would quietly become the house rule. Every decision — cleared or escalated — is written down permanently and cannot be edited later.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058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71717A"/>
                </a:solidFill>
                <a:latin typeface="Inter"/>
              </a:rPr>
              <a:t>05 · WHAT BROKE, AND WHAT WE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800" b="1">
                <a:solidFill>
                  <a:srgbClr val="EDEDF0"/>
                </a:solidFill>
                <a:latin typeface="Inter"/>
              </a:rPr>
              <a:t>Four things went wrong. Each one made the design better.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A1A1AA"/>
                </a:solidFill>
                <a:latin typeface="Inter"/>
              </a:rPr>
              <a:t>These are not hypotheticals — they are real bugs that shipped, got caught, and got fixed.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WHAT BROKE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6035040" cy="1042415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38100" cy="1042415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901952"/>
            <a:ext cx="5715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EF4444"/>
                </a:solidFill>
                <a:latin typeface="Inter"/>
              </a:rPr>
              <a:t>1 · The investigator that never wrapped 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103120"/>
            <a:ext cx="57424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It ran out of steps mid-investigation and handed back a blank “0, not sure” — which the system happily read as a genuine answer. A failure wearing the costume of a result.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615184"/>
            <a:ext cx="5742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850" b="0">
                <a:solidFill>
                  <a:srgbClr val="22C55E"/>
                </a:solidFill>
                <a:latin typeface="Inter"/>
              </a:rPr>
              <a:t>Fix: in the last two steps, the only thing it is allowed to do is finish. A time limit needs a forced ending, not just a buzzer.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980944"/>
            <a:ext cx="6035040" cy="1042415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980944"/>
            <a:ext cx="38100" cy="1042415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054096"/>
            <a:ext cx="5715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F97316"/>
                </a:solidFill>
                <a:latin typeface="Inter"/>
              </a:rPr>
              <a:t>2 · The feature we deleted that kept coming 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255264"/>
            <a:ext cx="57424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We cut watchlist screening from the project, yet it kept turning up in the output — hiding in three places: a leftover default, a stray sentence in a reference file, and an old cached answer.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767328"/>
            <a:ext cx="5742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850" b="0">
                <a:solidFill>
                  <a:srgbClr val="22C55E"/>
                </a:solidFill>
                <a:latin typeface="Inter"/>
              </a:rPr>
              <a:t>Fix: clear the data, not just the code. Then re-ran all 22 customers to prove it was gone.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33088"/>
            <a:ext cx="6035040" cy="1042415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133088"/>
            <a:ext cx="38100" cy="1042415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206240"/>
            <a:ext cx="5715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F59E0B"/>
                </a:solidFill>
                <a:latin typeface="Inter"/>
              </a:rPr>
              <a:t>3 · “It must be the API throttling us”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407408"/>
            <a:ext cx="57424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Scoring several customers at once took 76–90 seconds and I blamed the provider. The measurements said otherwise: four calls at once took 1.55s versus 1.48s for one. The real cause was our own code rebuilding the same tools on every single call.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919472"/>
            <a:ext cx="5742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850" b="0">
                <a:solidFill>
                  <a:srgbClr val="22C55E"/>
                </a:solidFill>
                <a:latin typeface="Inter"/>
              </a:rPr>
              <a:t>Fix: build them once and reuse. That step went from 7.5 seconds to 5 milliseconds.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285232"/>
            <a:ext cx="6035040" cy="1042415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285232"/>
            <a:ext cx="38100" cy="1042415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58384"/>
            <a:ext cx="5715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8B5CF6"/>
                </a:solidFill>
                <a:latin typeface="Inter"/>
              </a:rPr>
              <a:t>4 · It was about to start marking its own homework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559552"/>
            <a:ext cx="574243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It would have treated its own unchecked past decisions as precedent — turning one early mistake into a permanent habit.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6071616"/>
            <a:ext cx="5742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850" b="0">
                <a:solidFill>
                  <a:srgbClr val="22C55E"/>
                </a:solidFill>
                <a:latin typeface="Inter"/>
              </a:rPr>
              <a:t>Fix: it may only learn from cases a real person signed off.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1572768"/>
            <a:ext cx="47823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WHAT WE LEARNED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0" y="1828800"/>
            <a:ext cx="4782312" cy="694944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5160" y="1892808"/>
            <a:ext cx="45171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E4E4E7"/>
                </a:solidFill>
                <a:latin typeface="Inter"/>
              </a:rPr>
              <a:t>Hand the AI facts, not conclusions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2093976"/>
            <a:ext cx="453542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Tools that say “this looks odd, here are the rows” get better thinking than tools that say “this is fraud” — and you can check the answer afterwards.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0" y="2615184"/>
            <a:ext cx="4782312" cy="694944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95160" y="2679192"/>
            <a:ext cx="45171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E4E4E7"/>
                </a:solidFill>
                <a:latin typeface="Inter"/>
              </a:rPr>
              <a:t>“How sure are you?” beats “how bad is it?”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95160" y="2880360"/>
            <a:ext cx="453542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A confident middling score needs nobody. A shaky low one needs a person. Routing on doubt, not on severity, is what makes escalation mean something.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0" y="3401568"/>
            <a:ext cx="4782312" cy="694944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5160" y="3465576"/>
            <a:ext cx="45171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E4E4E7"/>
                </a:solidFill>
                <a:latin typeface="Inter"/>
              </a:rPr>
              <a:t>Measure before you fix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95160" y="3666744"/>
            <a:ext cx="453542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My first explanation for the slowness was simply wrong, and only the stopwatch showed it. The fix I nearly shipped would have changed nothing.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0" y="4187952"/>
            <a:ext cx="4782312" cy="694944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95160" y="4251960"/>
            <a:ext cx="45171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E4E4E7"/>
                </a:solidFill>
                <a:latin typeface="Inter"/>
              </a:rPr>
              <a:t>Here, the explanation IS the product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60" y="4453128"/>
            <a:ext cx="4535424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A right answer nobody can explain is worthless to a regulator. Showing the working is not a nice extra bolted on at the end — it is the thing being delivered.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5029200"/>
            <a:ext cx="47823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WHAT IS STILL WEAK → AND HOW WE WOULD FIX IT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0" y="5266944"/>
            <a:ext cx="4782312" cy="329184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67728" y="5294376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F59E0B"/>
                </a:solidFill>
                <a:latin typeface="Inter"/>
              </a:rPr>
              <a:t>Takes ~45–90s per customer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15400" y="5294376"/>
            <a:ext cx="263347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faster hardware, a smaller model for the easy steps, and running many customers side by side — realistically under 15s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858000" y="5632704"/>
            <a:ext cx="4782312" cy="329184"/>
          </a:xfrm>
          <a:prstGeom prst="roundRect">
            <a:avLst>
              <a:gd name="adj" fmla="val 6000"/>
            </a:avLst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67728" y="5660136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F59E0B"/>
                </a:solidFill>
                <a:latin typeface="Inter"/>
              </a:rPr>
              <a:t>Same input can vary slightly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15400" y="5660136"/>
            <a:ext cx="263347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lock the model version and keep a full record of every question asked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58000" y="5998464"/>
            <a:ext cx="4782312" cy="329184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967728" y="6025896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F59E0B"/>
                </a:solidFill>
                <a:latin typeface="Inter"/>
              </a:rPr>
              <a:t>Finds similar cases crudely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15400" y="6025896"/>
            <a:ext cx="263347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swap in proper meaning-based search as the case history grows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858000" y="6364224"/>
            <a:ext cx="4782312" cy="329184"/>
          </a:xfrm>
          <a:prstGeom prst="roundRect">
            <a:avLst>
              <a:gd name="adj" fmla="val 6000"/>
            </a:avLst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67728" y="6391656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F59E0B"/>
                </a:solidFill>
                <a:latin typeface="Inter"/>
              </a:rPr>
              <a:t>The 60% cut-off is a guess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15400" y="6391656"/>
            <a:ext cx="2633472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tune it against real corrections once enough have piled 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