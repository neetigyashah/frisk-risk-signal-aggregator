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analyst's desk, not the tech. The problem is fragmentation + inconsistency + no audit trail. Everything in the next four slides answers one of those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two-topology split is the core architectural claim — parallel where independent, serial where dependent. The memory table is what makes it a system rather than a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trace line by line — this is the 'show your work' claim made concrete. Point out step 10: the tool only suggests structuring; the agent had to accept it and cite the exact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answers 'so it improves?'. Emphasise the three paths — most systems have one (few-shot). The anti-echo-chamber rule is the detail that shows rigour.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trade-offs, not the wins — showing you know where it is weak is more convincing than claiming it is finished. Each next step maps to a limit named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71717A"/>
                </a:solidFill>
                <a:latin typeface="Inter"/>
              </a:rPr>
              <a:t>01 · PROBLEM &amp;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>
                <a:solidFill>
                  <a:srgbClr val="EDEDF0"/>
                </a:solidFill>
                <a:latin typeface="Inter"/>
              </a:rPr>
              <a:t>Analysts drown in fragmented signals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A1A1AA"/>
                </a:solidFill>
                <a:latin typeface="Inter"/>
              </a:rPr>
              <a:t>Five disconnected artefacts per customer — read manually, hundreds of times a 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WHAT ONE CUSTOMER LOOKS LIKE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029200" cy="36576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901952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kyc.json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31136" y="1911096"/>
            <a:ext cx="84124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structured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2384" y="1911096"/>
            <a:ext cx="2432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identity, occupation, PEP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67712"/>
            <a:ext cx="5029200" cy="36576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34086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account.json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31136" y="2350008"/>
            <a:ext cx="84124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structured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72384" y="2350008"/>
            <a:ext cx="2432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tenure, product, jurisdiction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06624"/>
            <a:ext cx="5029200" cy="36576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2779776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transactions.csv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31136" y="2788920"/>
            <a:ext cx="84124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structured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2384" y="2788920"/>
            <a:ext cx="2432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the actual behaviour — 100s of rows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145536"/>
            <a:ext cx="5029200" cy="36576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218688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rm_notes.txt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31136" y="3227832"/>
            <a:ext cx="84124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F97316"/>
                </a:solidFill>
                <a:latin typeface="Inter"/>
              </a:rPr>
              <a:t>free 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227832"/>
            <a:ext cx="2432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the relationship manager's unease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584448"/>
            <a:ext cx="5029200" cy="36576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657600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id_document.txt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31136" y="3666744"/>
            <a:ext cx="84124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F97316"/>
                </a:solidFill>
                <a:latin typeface="Inter"/>
              </a:rPr>
              <a:t>free 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72384" y="3666744"/>
            <a:ext cx="2432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document anomalies, admissions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1572768"/>
            <a:ext cx="5742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THREE FAILURES THIS CREATES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97880" y="1828800"/>
            <a:ext cx="5742432" cy="64008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97880" y="1828800"/>
            <a:ext cx="38100" cy="64008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9904" y="1892808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EF4444"/>
                </a:solidFill>
                <a:latin typeface="Inter"/>
              </a:rPr>
              <a:t>Slow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9904" y="2093976"/>
            <a:ext cx="5440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>
                <a:solidFill>
                  <a:srgbClr val="A1A1AA"/>
                </a:solidFill>
                <a:latin typeface="Inter"/>
              </a:rPr>
              <a:t>Minutes per customer — and the queue is unordered, so the riskiest case may be read last.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97880" y="2560320"/>
            <a:ext cx="5742432" cy="64008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897880" y="2560320"/>
            <a:ext cx="38100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9904" y="2624328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F59E0B"/>
                </a:solidFill>
                <a:latin typeface="Inter"/>
              </a:rPr>
              <a:t>Inconsistent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9904" y="2825496"/>
            <a:ext cx="5440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>
                <a:solidFill>
                  <a:srgbClr val="A1A1AA"/>
                </a:solidFill>
                <a:latin typeface="Inter"/>
              </a:rPr>
              <a:t>Two analysts score the same file differently. There is no shared calibration.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97880" y="3291840"/>
            <a:ext cx="5742432" cy="64008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897880" y="3291840"/>
            <a:ext cx="38100" cy="640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9904" y="3355848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F97316"/>
                </a:solidFill>
                <a:latin typeface="Inter"/>
              </a:rPr>
              <a:t>Unauditable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9904" y="3557016"/>
            <a:ext cx="5440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>
                <a:solidFill>
                  <a:srgbClr val="A1A1AA"/>
                </a:solidFill>
                <a:latin typeface="Inter"/>
              </a:rPr>
              <a:t>The reasoning lives in someone's head. A regulator asking “why was this cleared?” gets a shrug.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409651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9808" y="4197096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OBJECTIVE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4416552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DEDF0"/>
                </a:solidFill>
                <a:latin typeface="Inter"/>
              </a:rPr>
              <a:t>Do the first pass: </a:t>
            </a:r>
            <a:r>
              <a:rPr sz="1200" b="0">
                <a:solidFill>
                  <a:srgbClr val="A1A1AA"/>
                </a:solidFill>
                <a:latin typeface="Inter"/>
              </a:rPr>
              <a:t>read every source, investigate like an analyst, </a:t>
            </a:r>
            <a:r>
              <a:rPr sz="1200" b="1">
                <a:solidFill>
                  <a:srgbClr val="EDEDF0"/>
                </a:solidFill>
                <a:latin typeface="Inter"/>
              </a:rPr>
              <a:t>rank the whole book by risk</a:t>
            </a:r>
            <a:r>
              <a:rPr sz="1200" b="0">
                <a:solidFill>
                  <a:srgbClr val="A1A1AA"/>
                </a:solidFill>
                <a:latin typeface="Inter"/>
              </a:rPr>
              <a:t>, and </a:t>
            </a:r>
            <a:r>
              <a:rPr sz="1200" b="1">
                <a:solidFill>
                  <a:srgbClr val="EDEDF0"/>
                </a:solidFill>
                <a:latin typeface="Inter"/>
              </a:rPr>
              <a:t>show the work</a:t>
            </a:r>
            <a:r>
              <a:rPr sz="1200" b="0">
                <a:solidFill>
                  <a:srgbClr val="A1A1AA"/>
                </a:solidFill>
                <a:latin typeface="Inter"/>
              </a:rPr>
              <a:t> — so the human starts from evidence, not a blank page.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074920"/>
            <a:ext cx="7315200" cy="148132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5074920"/>
            <a:ext cx="38100" cy="14813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6" y="5221224"/>
            <a:ext cx="6858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DESIGN CONSTRAINT THAT SHAPED EVERYTHING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8096" y="5477256"/>
            <a:ext cx="6903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EDEDF0"/>
                </a:solidFill>
                <a:latin typeface="Inter"/>
              </a:rPr>
              <a:t>A false negative — a missed launderer — is catastrophic; a false positive is merely expensive.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A1A1AA"/>
                </a:solidFill>
                <a:latin typeface="Inter"/>
              </a:rPr>
              <a:t>So the system must </a:t>
            </a:r>
            <a:r>
              <a:rPr sz="1150" b="1">
                <a:solidFill>
                  <a:srgbClr val="F97316"/>
                </a:solidFill>
                <a:latin typeface="Inter"/>
              </a:rPr>
              <a:t>know when it is unsure</a:t>
            </a:r>
            <a:r>
              <a:rPr sz="1150" b="0">
                <a:solidFill>
                  <a:srgbClr val="A1A1AA"/>
                </a:solidFill>
                <a:latin typeface="Inter"/>
              </a:rPr>
              <a:t> and escalate, rather than guess confidently — which is why confidence, not score, decides who sees the case.</a:t>
            </a:r>
          </a:p>
        </p:txBody>
      </p:sp>
      <p:pic>
        <p:nvPicPr>
          <p:cNvPr id="47" name="Picture 46" descr="02-ranked-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5074920"/>
            <a:ext cx="2539419" cy="1481328"/>
          </a:xfrm>
          <a:prstGeom prst="rect">
            <a:avLst/>
          </a:prstGeom>
          <a:ln w="12700">
            <a:solidFill>
              <a:srgbClr val="323236"/>
            </a:solidFill>
          </a:ln>
        </p:spPr>
      </p:pic>
      <p:sp>
        <p:nvSpPr>
          <p:cNvPr id="48" name="TextBox 47"/>
          <p:cNvSpPr txBox="1"/>
          <p:nvPr/>
        </p:nvSpPr>
        <p:spPr>
          <a:xfrm>
            <a:off x="8138160" y="6583680"/>
            <a:ext cx="253941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The output that fixes all three — a ranked, evidenced queue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71717A"/>
                </a:solidFill>
                <a:latin typeface="Inter"/>
              </a:rPr>
              <a:t>02 · ARCHITECTURE &amp; AGENT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>
                <a:solidFill>
                  <a:srgbClr val="EDEDF0"/>
                </a:solidFill>
                <a:latin typeface="Inter"/>
              </a:rPr>
              <a:t>Parallel where independent, serial where dependent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A1A1AA"/>
                </a:solidFill>
                <a:latin typeface="Inter"/>
              </a:rPr>
              <a:t>Four stages per customer. No deterministic rules engine — the LLM judges; code supplies tools, memory and guardrails.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9344"/>
            <a:ext cx="2487168" cy="1243584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709928"/>
            <a:ext cx="2231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7DD3FC"/>
                </a:solidFill>
                <a:latin typeface="Inter"/>
              </a:rPr>
              <a:t>1 · INGEST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956816"/>
            <a:ext cx="223113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kyc · account · transactions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id_document · rm_notes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correspondence · screening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→ one typed Dossier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609344"/>
            <a:ext cx="2487168" cy="1243584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3008" y="1709928"/>
            <a:ext cx="2231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5EEAD4"/>
                </a:solidFill>
                <a:latin typeface="Inter"/>
              </a:rPr>
              <a:t>2 · RETRIEVE 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1956816"/>
            <a:ext cx="223113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per-customer history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similar past cases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lessons learned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reference cheat-sheets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609344"/>
            <a:ext cx="2487168" cy="1243584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709928"/>
            <a:ext cx="2231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C4B5FD"/>
                </a:solidFill>
                <a:latin typeface="Inter"/>
              </a:rPr>
              <a:t>3 · INVESTIGATE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956816"/>
            <a:ext cx="223113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3 specialists — PARALLEL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   KYC · transactions · docs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agentic orchestrator — SERIAL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   tools → finalize()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7696" y="1609344"/>
            <a:ext cx="2487168" cy="1243584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25712" y="1709928"/>
            <a:ext cx="2231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FDBA74"/>
                </a:solidFill>
                <a:latin typeface="Inter"/>
              </a:rPr>
              <a:t>4 · DECIDE + LEARN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5712" y="1956816"/>
            <a:ext cx="223113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conf ≥ 0.60 → auto-dispose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conf &lt; 0.60 → human queue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correction → memory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072384" y="2157984"/>
            <a:ext cx="256032" cy="146304"/>
          </a:xfrm>
          <a:prstGeom prst="rightArrow">
            <a:avLst/>
          </a:prstGeom>
          <a:solidFill>
            <a:srgbClr val="3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5888736" y="2157984"/>
            <a:ext cx="256032" cy="146304"/>
          </a:xfrm>
          <a:prstGeom prst="rightArrow">
            <a:avLst/>
          </a:prstGeom>
          <a:solidFill>
            <a:srgbClr val="3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8705088" y="2157984"/>
            <a:ext cx="256032" cy="146304"/>
          </a:xfrm>
          <a:prstGeom prst="rightArrow">
            <a:avLst/>
          </a:prstGeom>
          <a:solidFill>
            <a:srgbClr val="3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09067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WHY TWO DIFFERENT TOPOLOGIES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3328416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4E4E7"/>
                </a:solidFill>
                <a:latin typeface="Inter"/>
              </a:rPr>
              <a:t>Specialists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3328416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4E4E7"/>
                </a:solidFill>
                <a:latin typeface="Inter"/>
              </a:rPr>
              <a:t>Orchestrator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538728"/>
            <a:ext cx="5358384" cy="26517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566160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71717A"/>
                </a:solidFill>
                <a:latin typeface="Inter"/>
              </a:rPr>
              <a:t>Execution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356616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3 parallel calls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3566160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serial loop, one call at a 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849624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71717A"/>
                </a:solidFill>
                <a:latin typeface="Inter"/>
              </a:rPr>
              <a:t>Sees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3849624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only its own slice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3849624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all 3 opinions + dossier + tools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105656"/>
            <a:ext cx="5358384" cy="26517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133088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71717A"/>
                </a:solidFill>
                <a:latin typeface="Inter"/>
              </a:rPr>
              <a:t>Returns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413308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SpecialistOpinion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4133088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RiskFinding via finalize()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416552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71717A"/>
                </a:solidFill>
                <a:latin typeface="Inter"/>
              </a:rPr>
              <a:t>Why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37360" y="4416552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speed, no cross-talk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3320" y="4416552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each result informs the next question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090672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LAYERED MEMORY — 5 TIERS, 3 STORES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3346704"/>
            <a:ext cx="5376672" cy="30175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373368" y="3447288"/>
            <a:ext cx="91440" cy="91440"/>
          </a:xfrm>
          <a:prstGeom prst="roundRect">
            <a:avLst>
              <a:gd name="adj" fmla="val 6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65392" y="3392424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Working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26679" y="3392424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notes during this run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28048" y="3392424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Consolas"/>
              </a:rPr>
              <a:t>Redis scratchpad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44784" y="33924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71717A"/>
                </a:solidFill>
                <a:latin typeface="Inter"/>
              </a:rPr>
              <a:t>evicted on exit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2"/>
            <a:ext cx="5376672" cy="301752"/>
          </a:xfrm>
          <a:prstGeom prst="roundRect">
            <a:avLst>
              <a:gd name="adj" fmla="val 6000"/>
            </a:avLst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73368" y="3785616"/>
            <a:ext cx="91440" cy="91440"/>
          </a:xfrm>
          <a:prstGeom prst="roundRect">
            <a:avLst>
              <a:gd name="adj" fmla="val 6000"/>
            </a:avLst>
          </a:prstGeom>
          <a:solidFill>
            <a:srgbClr val="717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65392" y="3730752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Per-customer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26679" y="3730752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this customer's history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28048" y="373075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Consolas"/>
              </a:rPr>
              <a:t>SQLite assessments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44784" y="373075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71717A"/>
                </a:solidFill>
                <a:latin typeface="Inter"/>
              </a:rPr>
              <a:t>permanent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63640" y="4023360"/>
            <a:ext cx="5376672" cy="30175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373368" y="4123944"/>
            <a:ext cx="91440" cy="9144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65392" y="406908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Episodic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26679" y="4069080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similar cases + corrections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4069080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Consolas"/>
              </a:rPr>
              <a:t>case-bank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44784" y="4069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71717A"/>
                </a:solidFill>
                <a:latin typeface="Inter"/>
              </a:rPr>
              <a:t>permanent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63640" y="4361687"/>
            <a:ext cx="5376672" cy="301752"/>
          </a:xfrm>
          <a:prstGeom prst="roundRect">
            <a:avLst>
              <a:gd name="adj" fmla="val 6000"/>
            </a:avLst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373368" y="4462271"/>
            <a:ext cx="91440" cy="91440"/>
          </a:xfrm>
          <a:prstGeom prst="roundRect">
            <a:avLst>
              <a:gd name="adj" fmla="val 6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65392" y="4407407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Semantic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26679" y="4407407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typology defs, risk lists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28048" y="4407407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Consolas"/>
              </a:rPr>
              <a:t>static files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44784" y="4407407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71717A"/>
                </a:solidFill>
                <a:latin typeface="Inter"/>
              </a:rPr>
              <a:t>static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63640" y="4700016"/>
            <a:ext cx="5376672" cy="30175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373368" y="4800600"/>
            <a:ext cx="91440" cy="91440"/>
          </a:xfrm>
          <a:prstGeom prst="roundRect">
            <a:avLst>
              <a:gd name="adj" fmla="val 6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65392" y="4745736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Procedural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26679" y="4745736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lessons from corrections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28048" y="4745736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Consolas"/>
              </a:rPr>
              <a:t>lessons table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44784" y="474573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71717A"/>
                </a:solidFill>
                <a:latin typeface="Inter"/>
              </a:rPr>
              <a:t>grows with use</a:t>
            </a:r>
          </a:p>
        </p:txBody>
      </p:sp>
      <p:pic>
        <p:nvPicPr>
          <p:cNvPr id="69" name="Picture 68" descr="03-case-speciali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617720"/>
            <a:ext cx="2351314" cy="1371600"/>
          </a:xfrm>
          <a:prstGeom prst="rect">
            <a:avLst/>
          </a:prstGeom>
          <a:ln w="12700">
            <a:solidFill>
              <a:srgbClr val="323236"/>
            </a:solidFill>
          </a:ln>
        </p:spPr>
      </p:pic>
      <p:sp>
        <p:nvSpPr>
          <p:cNvPr id="70" name="TextBox 69"/>
          <p:cNvSpPr txBox="1"/>
          <p:nvPr/>
        </p:nvSpPr>
        <p:spPr>
          <a:xfrm>
            <a:off x="548640" y="6053328"/>
            <a:ext cx="235131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The three parallel specialist opinions, in the case drawer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5138928"/>
            <a:ext cx="843991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50" b="1">
                <a:solidFill>
                  <a:srgbClr val="E4E4E7"/>
                </a:solidFill>
                <a:latin typeface="Inter"/>
              </a:rPr>
              <a:t>The key design decision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0">
                <a:solidFill>
                  <a:srgbClr val="A1A1AA"/>
                </a:solidFill>
                <a:latin typeface="Inter"/>
              </a:rPr>
              <a:t>The orchestrator is </a:t>
            </a:r>
            <a:r>
              <a:rPr sz="1050" b="1">
                <a:solidFill>
                  <a:srgbClr val="EDEDF0"/>
                </a:solidFill>
                <a:latin typeface="Inter"/>
              </a:rPr>
              <a:t>serial</a:t>
            </a:r>
            <a:r>
              <a:rPr sz="1050" b="0">
                <a:solidFill>
                  <a:srgbClr val="A1A1AA"/>
                </a:solidFill>
                <a:latin typeface="Inter"/>
              </a:rPr>
              <a:t> because investigation is inherently sequential — you cannot know which document to open until you have seen the transactions. The specialists are </a:t>
            </a:r>
            <a:r>
              <a:rPr sz="1050" b="1">
                <a:solidFill>
                  <a:srgbClr val="EDEDF0"/>
                </a:solidFill>
                <a:latin typeface="Inter"/>
              </a:rPr>
              <a:t>parallel</a:t>
            </a:r>
            <a:r>
              <a:rPr sz="1050" b="0">
                <a:solidFill>
                  <a:srgbClr val="A1A1AA"/>
                </a:solidFill>
                <a:latin typeface="Inter"/>
              </a:rPr>
              <a:t> because their domains are independent, so running them together costs nothing and stops them contaminating each other's reasoning.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71717A"/>
                </a:solidFill>
                <a:latin typeface="Inter"/>
              </a:rPr>
              <a:t>03 · INPUT → AGENT LOOP →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>
                <a:solidFill>
                  <a:srgbClr val="EDEDF0"/>
                </a:solidFill>
                <a:latin typeface="Inter"/>
              </a:rPr>
              <a:t>A real investigation, 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A1A1AA"/>
                </a:solidFill>
                <a:latin typeface="Inter"/>
              </a:rPr>
              <a:t>Trace from CUST_018 — an Iranian arms dealer. Every step recorded; the trace is the audit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THE LOOP — ACTUAL TRACE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577840" cy="31089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8366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83664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read_document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1883664"/>
            <a:ext cx="33467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id_document.txt — Iranian passport, valid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94560"/>
            <a:ext cx="5577840" cy="31089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94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249424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read_document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6624" y="2249424"/>
            <a:ext cx="33467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rm_notes.txt — RM flags poor source of funds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560320"/>
            <a:ext cx="5577840" cy="31089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1518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615184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query_transactions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6624" y="2615184"/>
            <a:ext cx="33467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31 transactions, £62,174 credits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926080"/>
            <a:ext cx="5577840" cy="31089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98094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4-9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2980944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query_transactions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06624" y="2980944"/>
            <a:ext cx="33467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filtered: cash deposits, counterparty, window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291840"/>
            <a:ext cx="5577840" cy="31089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34670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346704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find_txn_patterns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06624" y="3346704"/>
            <a:ext cx="33467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STRUCTURING candidate, strength 1.0, S00–S03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657600"/>
            <a:ext cx="5577840" cy="31089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71246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712464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note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06624" y="3712464"/>
            <a:ext cx="33467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“4 sub-threshold deposits in 6 days”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023360"/>
            <a:ext cx="5577840" cy="310896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0782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078224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EF4444"/>
                </a:solidFill>
                <a:latin typeface="Consolas"/>
              </a:rPr>
              <a:t>finalize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06624" y="4078224"/>
            <a:ext cx="33467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EDEDF0"/>
                </a:solidFill>
                <a:latin typeface="Inter"/>
              </a:rPr>
              <a:t>score 83 · HIGH · ESCALATE · conf 0.85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1572768"/>
            <a:ext cx="51937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OUTPUT — A DECISION THAT CARRIES ITS EVIDENCE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46520" y="1828800"/>
            <a:ext cx="5193792" cy="1371600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400" y="191109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700" b="1">
                <a:solidFill>
                  <a:srgbClr val="EF4444"/>
                </a:solidFill>
                <a:latin typeface="Inter"/>
              </a:rPr>
              <a:t>83</a:t>
            </a:r>
            <a:r>
              <a:rPr sz="1150" b="0">
                <a:solidFill>
                  <a:srgbClr val="71717A"/>
                </a:solidFill>
                <a:latin typeface="Inter"/>
              </a:rPr>
              <a:t> / 100</a:t>
            </a:r>
            <a:r>
              <a:rPr sz="1200" b="1">
                <a:solidFill>
                  <a:srgbClr val="EF4444"/>
                </a:solidFill>
                <a:latin typeface="Inter"/>
              </a:rPr>
              <a:t>    HIGH · ESCALATE</a:t>
            </a:r>
            <a:r>
              <a:rPr sz="1000" b="0">
                <a:solidFill>
                  <a:srgbClr val="A1A1AA"/>
                </a:solidFill>
                <a:latin typeface="Inter"/>
              </a:rPr>
              <a:t>   conf 0.85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2340864"/>
            <a:ext cx="4864608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800" b="0">
                <a:solidFill>
                  <a:srgbClr val="71717A"/>
                </a:solidFill>
                <a:latin typeface="Consolas"/>
              </a:rPr>
              <a:t>evidence_refs: </a:t>
            </a:r>
            <a:r>
              <a:rPr sz="800" b="0">
                <a:solidFill>
                  <a:srgbClr val="22C55E"/>
                </a:solidFill>
                <a:latin typeface="Consolas"/>
              </a:rPr>
              <a:t>CUST_018-S00, S01, S02, S03, rm_notes.txt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800" b="0">
                <a:solidFill>
                  <a:srgbClr val="71717A"/>
                </a:solidFill>
                <a:latin typeface="Consolas"/>
              </a:rPr>
              <a:t>key_signals: </a:t>
            </a:r>
            <a:r>
              <a:rPr sz="800" b="0">
                <a:solidFill>
                  <a:srgbClr val="A1A1AA"/>
                </a:solidFill>
                <a:latin typeface="Consolas"/>
              </a:rPr>
              <a:t>Iran high-risk jurisdiction · arms dealer occupation · confirmed structuring ($37k across 4 deposits in 6 days)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364992"/>
            <a:ext cx="51937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GUARDRAILS THAT MAKE THE OUTPUT TRUSTWORTHY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46520" y="3621024"/>
            <a:ext cx="5193792" cy="47548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01968" y="3666744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22C55E"/>
                </a:solidFill>
                <a:latin typeface="Inter"/>
              </a:rPr>
              <a:t>Citation check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3849624"/>
            <a:ext cx="49011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evidence_refs validated against what tools actually returned; fabrications rejected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46520" y="4151376"/>
            <a:ext cx="5193792" cy="47548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4197096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22C55E"/>
                </a:solidFill>
                <a:latin typeface="Inter"/>
              </a:rPr>
              <a:t>Bounded loop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01968" y="4379976"/>
            <a:ext cx="49011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12 steps max — exceeding it routes to a human, never loops forever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46520" y="4681728"/>
            <a:ext cx="5193792" cy="47548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01968" y="4727448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22C55E"/>
                </a:solidFill>
                <a:latin typeface="Inter"/>
              </a:rPr>
              <a:t>Never blank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01968" y="4910328"/>
            <a:ext cx="49011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any exception still produces a valid decision routed to review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46520" y="5212079"/>
            <a:ext cx="5193792" cy="47548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01968" y="5257799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22C55E"/>
                </a:solidFill>
                <a:latin typeface="Inter"/>
              </a:rPr>
              <a:t>Facts, not verdicts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01968" y="5440679"/>
            <a:ext cx="49011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find_txn_patterns yields candidates the LLM must judge and justify</a:t>
            </a:r>
          </a:p>
        </p:txBody>
      </p:sp>
      <p:pic>
        <p:nvPicPr>
          <p:cNvPr id="52" name="Picture 51" descr="04-tool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53712"/>
            <a:ext cx="3291840" cy="1920240"/>
          </a:xfrm>
          <a:prstGeom prst="rect">
            <a:avLst/>
          </a:prstGeom>
          <a:ln w="12700">
            <a:solidFill>
              <a:srgbClr val="323236"/>
            </a:solidFill>
          </a:ln>
        </p:spPr>
      </p:pic>
      <p:sp>
        <p:nvSpPr>
          <p:cNvPr id="53" name="TextBox 52"/>
          <p:cNvSpPr txBox="1"/>
          <p:nvPr/>
        </p:nvSpPr>
        <p:spPr>
          <a:xfrm>
            <a:off x="548640" y="65288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The same trace in the app — the audit record analysts actually read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71717A"/>
                </a:solidFill>
                <a:latin typeface="Inter"/>
              </a:rPr>
              <a:t>04 · 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>
                <a:solidFill>
                  <a:srgbClr val="EDEDF0"/>
                </a:solidFill>
                <a:latin typeface="Inter"/>
              </a:rPr>
              <a:t>The flywheel: uncertainty becomes training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A1A1AA"/>
                </a:solidFill>
                <a:latin typeface="Inter"/>
              </a:rPr>
              <a:t>Confidence gates the outcome. What the human corrects, the system remembers — three different 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9344"/>
            <a:ext cx="2194560" cy="60350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69164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100" b="1">
                <a:solidFill>
                  <a:srgbClr val="EDEDF0"/>
                </a:solidFill>
                <a:latin typeface="Inter"/>
              </a:rPr>
              <a:t>RiskFinding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+ self-reported confidence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816352" y="1837944"/>
            <a:ext cx="256032" cy="146304"/>
          </a:xfrm>
          <a:prstGeom prst="rightArrow">
            <a:avLst/>
          </a:prstGeom>
          <a:solidFill>
            <a:srgbClr val="3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0" y="1609344"/>
            <a:ext cx="1920240" cy="603504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77393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E4E4E7"/>
                </a:solidFill>
                <a:latin typeface="Inter"/>
              </a:rPr>
              <a:t>confidence ≥ 0.60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13248" y="1499616"/>
            <a:ext cx="2432304" cy="50292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41264" y="160020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22C55E"/>
                </a:solidFill>
                <a:latin typeface="Inter"/>
              </a:rPr>
              <a:t>YES → </a:t>
            </a:r>
            <a:r>
              <a:rPr sz="950" b="0">
                <a:solidFill>
                  <a:srgbClr val="A1A1AA"/>
                </a:solidFill>
                <a:latin typeface="Inter"/>
              </a:rPr>
              <a:t>auto-dispose by band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13248" y="2093976"/>
            <a:ext cx="2432304" cy="50292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41264" y="219456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F97316"/>
                </a:solidFill>
                <a:latin typeface="Inter"/>
              </a:rPr>
              <a:t>NO → </a:t>
            </a:r>
            <a:r>
              <a:rPr sz="950" b="0">
                <a:solidFill>
                  <a:srgbClr val="A1A1AA"/>
                </a:solidFill>
                <a:latin typeface="Inter"/>
              </a:rPr>
              <a:t>Redis review queue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55279" y="2212848"/>
            <a:ext cx="256032" cy="146304"/>
          </a:xfrm>
          <a:prstGeom prst="rightArrow">
            <a:avLst/>
          </a:prstGeom>
          <a:solidFill>
            <a:srgbClr val="3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21040" y="2011680"/>
            <a:ext cx="3319272" cy="60350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67344" y="2112264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000" b="1">
                <a:solidFill>
                  <a:srgbClr val="EDEDF0"/>
                </a:solidFill>
                <a:latin typeface="Inter"/>
              </a:rPr>
              <a:t>Human sets the correct score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sees opinions, full trace, agent notes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852928"/>
            <a:ext cx="5486400" cy="1243584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2953512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WHY GATE ON CONFIDENCE, NOT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191256"/>
            <a:ext cx="5157216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950" b="0">
                <a:solidFill>
                  <a:srgbClr val="A1A1AA"/>
                </a:solidFill>
                <a:latin typeface="Inter"/>
              </a:rPr>
              <a:t>A score of 58 is not automatically uncertain — the agent may be very confident it is a 58. What matters is whether </a:t>
            </a:r>
            <a:r>
              <a:rPr sz="950" b="1">
                <a:solidFill>
                  <a:srgbClr val="EDEDF0"/>
                </a:solidFill>
                <a:latin typeface="Inter"/>
              </a:rPr>
              <a:t>the evidence supports the conclusion</a:t>
            </a:r>
            <a:r>
              <a:rPr sz="950" b="0">
                <a:solidFill>
                  <a:srgbClr val="A1A1AA"/>
                </a:solidFill>
                <a:latin typeface="Inter"/>
              </a:rPr>
              <a:t>. Confidence is the agent's own honest self-report, and the prompt tells it that low-confidence cases go to a human — so </a:t>
            </a:r>
            <a:r>
              <a:rPr sz="950" b="1">
                <a:solidFill>
                  <a:srgbClr val="22C55E"/>
                </a:solidFill>
                <a:latin typeface="Inter"/>
              </a:rPr>
              <a:t>admitting uncertainty is the rewarded behaviour</a:t>
            </a:r>
            <a:r>
              <a:rPr sz="950" b="0">
                <a:solidFill>
                  <a:srgbClr val="A1A1AA"/>
                </a:solidFill>
                <a:latin typeface="Inter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852928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ONE CORRECTION → THREE LEARNING PATHS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108960"/>
            <a:ext cx="5376672" cy="36576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108960"/>
            <a:ext cx="38100" cy="3657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37376" y="3145536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human-verified episode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3154680"/>
            <a:ext cx="2697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similar customers retrieve it as few-shot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3520440"/>
            <a:ext cx="5376672" cy="36576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3520440"/>
            <a:ext cx="38100" cy="3657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3557016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a lesson (frisk reflect)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3566160"/>
            <a:ext cx="2697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injected into every future orchestrator prompt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931920"/>
            <a:ext cx="5376672" cy="36576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3931920"/>
            <a:ext cx="38100" cy="365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37376" y="3968496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a row in customer history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3977640"/>
            <a:ext cx="2697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next assessment sees what changed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4370832"/>
            <a:ext cx="5376672" cy="621792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6" y="4453128"/>
            <a:ext cx="51206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00" b="1">
                <a:solidFill>
                  <a:srgbClr val="22C55E"/>
                </a:solidFill>
                <a:latin typeface="Inter"/>
              </a:rPr>
              <a:t>Anti-echo-chamber guard: </a:t>
            </a:r>
            <a:r>
              <a:rPr sz="900" b="0">
                <a:solidFill>
                  <a:srgbClr val="A1A1AA"/>
                </a:solidFill>
                <a:latin typeface="Inter"/>
              </a:rPr>
              <a:t>episodic few-shot draws only from human-verified cases. The system never learns from its own unreviewed output, so mistakes cannot compound into false precedent.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5138928"/>
            <a:ext cx="5376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00" b="0">
                <a:solidFill>
                  <a:srgbClr val="71717A"/>
                </a:solidFill>
                <a:latin typeface="Inter"/>
              </a:rPr>
              <a:t>Every decision — cleared as well as escalated — is written to an append-only audit log, so the flywheel is inspectable, not just felt.</a:t>
            </a:r>
          </a:p>
        </p:txBody>
      </p:sp>
      <p:pic>
        <p:nvPicPr>
          <p:cNvPr id="37" name="Picture 36" descr="07-teach-the-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261104"/>
            <a:ext cx="3793454" cy="2212848"/>
          </a:xfrm>
          <a:prstGeom prst="rect">
            <a:avLst/>
          </a:prstGeom>
          <a:ln w="12700">
            <a:solidFill>
              <a:srgbClr val="323236"/>
            </a:solidFill>
          </a:ln>
        </p:spPr>
      </p:pic>
      <p:sp>
        <p:nvSpPr>
          <p:cNvPr id="38" name="TextBox 37"/>
          <p:cNvSpPr txBox="1"/>
          <p:nvPr/>
        </p:nvSpPr>
        <p:spPr>
          <a:xfrm>
            <a:off x="548640" y="6528816"/>
            <a:ext cx="379345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“Agent proposed 45 at confidence 0.50 — below threshold.” The reviewer corrects it 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71717A"/>
                </a:solidFill>
                <a:latin typeface="Inter"/>
              </a:rPr>
              <a:t>05 · RESULTS, TRADE-OFFS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>
                <a:solidFill>
                  <a:srgbClr val="EDEDF0"/>
                </a:solidFill>
                <a:latin typeface="Inter"/>
              </a:rPr>
              <a:t>It works end-to-end — and here is where it is weak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A1A1AA"/>
                </a:solidFill>
                <a:latin typeface="Inter"/>
              </a:rPr>
              <a:t>22 customers scored live by the real model. 14 tests pass with no API key required.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2139696" cy="93268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682496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CUSTOMERS SCORED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883664"/>
            <a:ext cx="186537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1">
                <a:solidFill>
                  <a:srgbClr val="EDEDF0"/>
                </a:solidFill>
                <a:latin typeface="Inter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267712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one full synthetic book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98064" y="1572768"/>
            <a:ext cx="2139696" cy="93268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44368" y="1682496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AUTO-CLEARED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883664"/>
            <a:ext cx="186537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1">
                <a:solidFill>
                  <a:srgbClr val="22C55E"/>
                </a:solidFill>
                <a:latin typeface="Inter"/>
              </a:rPr>
              <a:t>27%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8" y="2267712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zero human 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47488" y="1572768"/>
            <a:ext cx="2139696" cy="93268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3792" y="1682496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ESCALATED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3792" y="1883664"/>
            <a:ext cx="186537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1">
                <a:solidFill>
                  <a:srgbClr val="EF4444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2267712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to a senior reviewer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96912" y="1572768"/>
            <a:ext cx="2139696" cy="93268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43216" y="1682496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SENT TO A HUMAN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43216" y="1883664"/>
            <a:ext cx="186537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1">
                <a:solidFill>
                  <a:srgbClr val="F97316"/>
                </a:solidFill>
                <a:latin typeface="Inter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43216" y="2267712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below confidence gate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46336" y="1572768"/>
            <a:ext cx="2093976" cy="93268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1682496"/>
            <a:ext cx="18196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TESTS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1883664"/>
            <a:ext cx="1819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1">
                <a:solidFill>
                  <a:srgbClr val="22C55E"/>
                </a:solidFill>
                <a:latin typeface="Inter"/>
              </a:rPr>
              <a:t>14 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2267712"/>
            <a:ext cx="18196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mock provider, offline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7432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SAME AGENT, OPPOSITE ENDS OF THE QUEUE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2980944"/>
            <a:ext cx="5486400" cy="53035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3063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EDEDF0"/>
                </a:solidFill>
                <a:latin typeface="Consolas"/>
              </a:rPr>
              <a:t>CUST_018</a:t>
            </a:r>
            <a:r>
              <a:rPr sz="900" b="0">
                <a:solidFill>
                  <a:srgbClr val="A1A1AA"/>
                </a:solidFill>
                <a:latin typeface="Inter"/>
              </a:rPr>
              <a:t>  arms dealer, Iran, structuring → </a:t>
            </a:r>
            <a:r>
              <a:rPr sz="1000" b="1">
                <a:solidFill>
                  <a:srgbClr val="EF4444"/>
                </a:solidFill>
                <a:latin typeface="Inter"/>
              </a:rPr>
              <a:t>83 HIGH / ESCALATE</a:t>
            </a:r>
            <a:r>
              <a:rPr sz="900" b="0">
                <a:solidFill>
                  <a:srgbClr val="A1A1AA"/>
                </a:solidFill>
                <a:latin typeface="Inter"/>
              </a:rPr>
              <a:t> @ 0.85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584448"/>
            <a:ext cx="5486400" cy="53035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3666744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EDEDF0"/>
                </a:solidFill>
                <a:latin typeface="Consolas"/>
              </a:rPr>
              <a:t>CUST_000</a:t>
            </a:r>
            <a:r>
              <a:rPr sz="900" b="0">
                <a:solidFill>
                  <a:srgbClr val="A1A1AA"/>
                </a:solidFill>
                <a:latin typeface="Inter"/>
              </a:rPr>
              <a:t>  UK teacher, salary + card spend → </a:t>
            </a:r>
            <a:r>
              <a:rPr sz="1000" b="1">
                <a:solidFill>
                  <a:srgbClr val="22C55E"/>
                </a:solidFill>
                <a:latin typeface="Inter"/>
              </a:rPr>
              <a:t>5 LOW / AUTO_CLEAR</a:t>
            </a:r>
            <a:r>
              <a:rPr sz="900" b="0">
                <a:solidFill>
                  <a:srgbClr val="A1A1AA"/>
                </a:solidFill>
                <a:latin typeface="Inter"/>
              </a:rPr>
              <a:t> @ 0.95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2743200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HONEST LIMITS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2980944"/>
            <a:ext cx="5376672" cy="54864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03580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F59E0B"/>
                </a:solidFill>
                <a:latin typeface="Inter"/>
              </a:rPr>
              <a:t>Latency ~45–90s per customer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3218688"/>
            <a:ext cx="51572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~11 sequential LLM round-trips. Serial depth is the cost of a real investigation; batch mode overlaps customers.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602736"/>
            <a:ext cx="5376672" cy="54864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3657600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F59E0B"/>
                </a:solidFill>
                <a:latin typeface="Inter"/>
              </a:rPr>
              <a:t>Not byte-reproducible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3840480"/>
            <a:ext cx="51572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Mitigated: temperature=0 plus a logged trace and injected-memory record, so any decision is reconstructable.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4224528"/>
            <a:ext cx="5376672" cy="54864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4279392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F59E0B"/>
                </a:solidFill>
                <a:latin typeface="Inter"/>
              </a:rPr>
              <a:t>Episodic recall is feature-match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4462272"/>
            <a:ext cx="51572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Not embeddings yet — the similar() interface is deliberately vector-pluggable.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736592"/>
            <a:ext cx="110916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NEXT STEPS — EACH MAPS TO A LIMIT ABOVE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4974336"/>
            <a:ext cx="2651760" cy="71323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5047488"/>
            <a:ext cx="23957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4E4E7"/>
                </a:solidFill>
                <a:latin typeface="Inter"/>
              </a:rPr>
              <a:t>1. Vector episodic memory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56" y="5239512"/>
            <a:ext cx="241401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swap feature-match for embeddings as the case bank grows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46704" y="4974336"/>
            <a:ext cx="2651760" cy="71323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74720" y="5047488"/>
            <a:ext cx="23957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4E4E7"/>
                </a:solidFill>
                <a:latin typeface="Inter"/>
              </a:rPr>
              <a:t>2. Live watchlist feeds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74720" y="5239512"/>
            <a:ext cx="241401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re-add sanctions / adverse-media as tools the agent queries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44768" y="4974336"/>
            <a:ext cx="2651760" cy="71323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2784" y="5047488"/>
            <a:ext cx="23957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4E4E7"/>
                </a:solidFill>
                <a:latin typeface="Inter"/>
              </a:rPr>
              <a:t>3. Confidence calibration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72784" y="5239512"/>
            <a:ext cx="241401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measure agreement vs human corrections, auto-tune the gate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942832" y="4974336"/>
            <a:ext cx="2651760" cy="71323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70848" y="5047488"/>
            <a:ext cx="23957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4E4E7"/>
                </a:solidFill>
                <a:latin typeface="Inter"/>
              </a:rPr>
              <a:t>4. Case management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70848" y="5239512"/>
            <a:ext cx="241401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assignment, SLAs, escalation workflow, reviewer analytics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48640" y="5705856"/>
            <a:ext cx="11091672" cy="749808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9808" y="5797296"/>
            <a:ext cx="10698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ENGINEERING DECISIONS WORTH DEFENDING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8" y="601675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>
                <a:solidFill>
                  <a:srgbClr val="A1A1AA"/>
                </a:solidFill>
                <a:latin typeface="Inter"/>
              </a:rPr>
              <a:t>No deterministic scoring · sanctions deliberately scoped out (the brief said “external alerts”) · Decimal money · seeded byte-identical data generation · append-only audit of clears as well as escalations · working-memory scratchpad evicted on every exit path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