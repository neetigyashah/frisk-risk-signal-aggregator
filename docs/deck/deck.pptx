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analyst's desk, not the tech. The numbers establish this is a triage and explainability problem, not a detection problem. Everything in the next four slides answers one of the three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two-topology split is the core architectural claim — parallel where independent, serial where dependent. The memory table is the second claim: state outlives the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trace. This is 'show your work' made concrete. Point at step 10 — the tool only suggests structuring; the agent had to accept it and cite the exact rows to claim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answers 'does it improve?'. Emphasise the three paths, then the anti-echo-chamber rule — that is the detail showing the failure mode was anticipated.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challenges and learnings, not the wins. Showing that you found the silent failure — and that you were wrong once and the data corrected you — is more convincing than claiming it is finished.</a:t>
            </a:r>
          </a:p>
          <a:p/>
          <a:p>
            <a:r>
              <a:t>If asked about engineering decisions: no deterministic scoring · sanctions deliberately scoped out (the brief said “external alerts”) · Decimal money · seeded byte-identical data generation · append-only audit of clears as well as escalations · working-memory scratchpad evicted on every exit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71717A"/>
                </a:solidFill>
                <a:latin typeface="Inter"/>
              </a:rPr>
              <a:t>01 · PROBLEM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800" b="1">
                <a:solidFill>
                  <a:srgbClr val="EDEDF0"/>
                </a:solidFill>
                <a:latin typeface="Inter"/>
              </a:rPr>
              <a:t>Compliance drowns in signals it generated itself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A1A1AA"/>
                </a:solidFill>
                <a:latin typeface="Inter"/>
              </a:rPr>
              <a:t>The bottleneck is not detecting suspicious activity — it is triaging the noise, and explaining the call afterwards.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7276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71717A"/>
                </a:solidFill>
                <a:latin typeface="Inter"/>
              </a:rPr>
              <a:t>THE DOMAIN, IN NUMBERS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86400" cy="429768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323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9019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EF4444"/>
                </a:solidFill>
                <a:latin typeface="Inter"/>
              </a:rPr>
              <a:t>~90–95%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9072" y="1874520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00" b="0">
                <a:solidFill>
                  <a:srgbClr val="EDEDF0"/>
                </a:solidFill>
                <a:latin typeface="Inter"/>
              </a:rPr>
              <a:t>of AML alerts are false positives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9072" y="2048256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00" b="0">
                <a:solidFill>
                  <a:srgbClr val="71717A"/>
                </a:solidFill>
                <a:latin typeface="Inter"/>
              </a:rPr>
              <a:t>the bottleneck is triage, not detection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31720"/>
            <a:ext cx="5486400" cy="429768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323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4048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  <a:latin typeface="Inter"/>
              </a:rPr>
              <a:t>2–4%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19072" y="2377440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00" b="0">
                <a:solidFill>
                  <a:srgbClr val="EDEDF0"/>
                </a:solidFill>
                <a:latin typeface="Inter"/>
              </a:rPr>
              <a:t>of alerts are actionable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9072" y="2551176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00" b="0">
                <a:solidFill>
                  <a:srgbClr val="71717A"/>
                </a:solidFill>
                <a:latin typeface="Inter"/>
              </a:rPr>
              <a:t>96%+ of analyst effort produces nothing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834640"/>
            <a:ext cx="5486400" cy="429768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323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907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F97316"/>
                </a:solidFill>
                <a:latin typeface="Inter"/>
              </a:rPr>
              <a:t>70–80%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19072" y="2880360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00" b="0">
                <a:solidFill>
                  <a:srgbClr val="EDEDF0"/>
                </a:solidFill>
                <a:latin typeface="Inter"/>
              </a:rPr>
              <a:t>of analyst time goes to false positives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9072" y="3054096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00" b="0">
                <a:solidFill>
                  <a:srgbClr val="71717A"/>
                </a:solidFill>
                <a:latin typeface="Inter"/>
              </a:rPr>
              <a:t>the scarce resource is attention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337560"/>
            <a:ext cx="5486400" cy="429768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323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34107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A1A1AA"/>
                </a:solidFill>
                <a:latin typeface="Inter"/>
              </a:rPr>
              <a:t>2–5%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19072" y="3383280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00" b="0">
                <a:solidFill>
                  <a:srgbClr val="EDEDF0"/>
                </a:solidFill>
                <a:latin typeface="Inter"/>
              </a:rPr>
              <a:t>of global GDP laundered annually (UNODC)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19072" y="3557016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00" b="0">
                <a:solidFill>
                  <a:srgbClr val="71717A"/>
                </a:solidFill>
                <a:latin typeface="Inter"/>
              </a:rPr>
              <a:t>the false negatives are the costly ones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877056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0">
                <a:solidFill>
                  <a:srgbClr val="71717A"/>
                </a:solidFill>
                <a:latin typeface="Inter"/>
              </a:rPr>
              <a:t>Directional industry estimates, not audited statistics — but the shape is consistent.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1572768"/>
            <a:ext cx="533095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71717A"/>
                </a:solidFill>
                <a:latin typeface="Inter"/>
              </a:rPr>
              <a:t>ONE CUSTOMER = FIVE DISCONNECTED ARTEFACTS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1828800"/>
            <a:ext cx="5330952" cy="347472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323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7376" y="1892808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EDEDF0"/>
                </a:solidFill>
                <a:latin typeface="Consolas"/>
              </a:rPr>
              <a:t>kyc.json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10144" y="1901952"/>
            <a:ext cx="84124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00" b="1">
                <a:solidFill>
                  <a:srgbClr val="71717A"/>
                </a:solidFill>
                <a:latin typeface="Inter"/>
              </a:rPr>
              <a:t>structured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7968" y="1901952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identity, occupation, PEP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2231136"/>
            <a:ext cx="5330952" cy="347472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323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37376" y="2295144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EDEDF0"/>
                </a:solidFill>
                <a:latin typeface="Consolas"/>
              </a:rPr>
              <a:t>account.json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0144" y="2304288"/>
            <a:ext cx="84124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00" b="1">
                <a:solidFill>
                  <a:srgbClr val="71717A"/>
                </a:solidFill>
                <a:latin typeface="Inter"/>
              </a:rPr>
              <a:t>structured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304288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tenure, product, jurisdiction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2633472"/>
            <a:ext cx="5330952" cy="347472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323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37376" y="2697480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EDEDF0"/>
                </a:solidFill>
                <a:latin typeface="Consolas"/>
              </a:rPr>
              <a:t>transactions.csv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10144" y="2706624"/>
            <a:ext cx="84124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00" b="1">
                <a:solidFill>
                  <a:srgbClr val="71717A"/>
                </a:solidFill>
                <a:latin typeface="Inter"/>
              </a:rPr>
              <a:t>structured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87968" y="2706624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the behaviour — 100s of rows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3035808"/>
            <a:ext cx="5330952" cy="347472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323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37376" y="3099816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EDEDF0"/>
                </a:solidFill>
                <a:latin typeface="Consolas"/>
              </a:rPr>
              <a:t>rm_notes.txt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0144" y="3108960"/>
            <a:ext cx="84124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00" b="1">
                <a:solidFill>
                  <a:srgbClr val="F97316"/>
                </a:solidFill>
                <a:latin typeface="Inter"/>
              </a:rPr>
              <a:t>free text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87968" y="3108960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the RM's unease, in prose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60" y="3438144"/>
            <a:ext cx="5330952" cy="347472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323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37376" y="3502152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EDEDF0"/>
                </a:solidFill>
                <a:latin typeface="Consolas"/>
              </a:rPr>
              <a:t>id_document.txt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10144" y="3511296"/>
            <a:ext cx="84124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00" b="1">
                <a:solidFill>
                  <a:srgbClr val="F97316"/>
                </a:solidFill>
                <a:latin typeface="Inter"/>
              </a:rPr>
              <a:t>free text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87968" y="3511296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document anomalies, admissions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3877056"/>
            <a:ext cx="533095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00" b="0">
                <a:solidFill>
                  <a:srgbClr val="A1A1AA"/>
                </a:solidFill>
                <a:latin typeface="Inter"/>
              </a:rPr>
              <a:t>The two most incriminating sources are unstructured. </a:t>
            </a:r>
            <a:r>
              <a:rPr sz="900" b="1">
                <a:solidFill>
                  <a:srgbClr val="F97316"/>
                </a:solidFill>
                <a:latin typeface="Inter"/>
              </a:rPr>
              <a:t>No rules engine reads them.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4352544"/>
            <a:ext cx="110916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71717A"/>
                </a:solidFill>
                <a:latin typeface="Inter"/>
              </a:rPr>
              <a:t>THREE FAILURES THIS CREATES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4590288"/>
            <a:ext cx="3593592" cy="713232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323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8640" y="4590288"/>
            <a:ext cx="38100" cy="713232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4654296"/>
            <a:ext cx="32826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EF4444"/>
                </a:solidFill>
                <a:latin typeface="Inter"/>
              </a:rPr>
              <a:t>Slow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4855464"/>
            <a:ext cx="330098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Minutes per customer — and the queue is unordered, so the riskiest case may be read last.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88536" y="4590288"/>
            <a:ext cx="3593592" cy="713232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323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88536" y="4590288"/>
            <a:ext cx="38100" cy="7132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71416" y="4654296"/>
            <a:ext cx="32826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F59E0B"/>
                </a:solidFill>
                <a:latin typeface="Inter"/>
              </a:rPr>
              <a:t>Inconsistent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71416" y="4855464"/>
            <a:ext cx="330098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Two analysts score the same file differently. There is no shared calibration.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28432" y="4590288"/>
            <a:ext cx="3593592" cy="713232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323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028432" y="4590288"/>
            <a:ext cx="38100" cy="71323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11312" y="4654296"/>
            <a:ext cx="32826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F97316"/>
                </a:solidFill>
                <a:latin typeface="Inter"/>
              </a:rPr>
              <a:t>Unauditable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11312" y="4855464"/>
            <a:ext cx="330098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A regulator asking “why was this cleared?” six months later gets a shrug.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8640" y="5468112"/>
            <a:ext cx="11091672" cy="969264"/>
          </a:xfrm>
          <a:prstGeom prst="roundRect">
            <a:avLst>
              <a:gd name="adj" fmla="val 6000"/>
            </a:avLst>
          </a:prstGeom>
          <a:solidFill>
            <a:srgbClr val="1A1A1D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8096" y="5568696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00" b="1">
                <a:solidFill>
                  <a:srgbClr val="71717A"/>
                </a:solidFill>
                <a:latin typeface="Inter"/>
              </a:rPr>
              <a:t>OBJECTIVE, AND THE CONSTRAINT THAT SHAPED EVERYTHING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8096" y="5779008"/>
            <a:ext cx="106527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EDEDF0"/>
                </a:solidFill>
                <a:latin typeface="Inter"/>
              </a:rPr>
              <a:t>Do the first pass: </a:t>
            </a:r>
            <a:r>
              <a:rPr sz="1100" b="0">
                <a:solidFill>
                  <a:srgbClr val="A1A1AA"/>
                </a:solidFill>
                <a:latin typeface="Inter"/>
              </a:rPr>
              <a:t>read every source, investigate like an analyst, rank the whole book by risk, and show the work — so the human starts from evidence, not a blank page.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A1A1AA"/>
                </a:solidFill>
                <a:latin typeface="Inter"/>
              </a:rPr>
              <a:t>A false negative is catastrophic; a false positive is merely expensive — so the system must </a:t>
            </a:r>
            <a:r>
              <a:rPr sz="1100" b="1">
                <a:solidFill>
                  <a:srgbClr val="F97316"/>
                </a:solidFill>
                <a:latin typeface="Inter"/>
              </a:rPr>
              <a:t>know when it is unsure and escalate</a:t>
            </a:r>
            <a:r>
              <a:rPr sz="1100" b="0">
                <a:solidFill>
                  <a:srgbClr val="A1A1AA"/>
                </a:solidFill>
                <a:latin typeface="Inter"/>
              </a:rPr>
              <a:t>. That is why confidence, not score, decides who sees a case.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71717A"/>
                </a:solidFill>
                <a:latin typeface="Inter"/>
              </a:rPr>
              <a:t>02 · SOLUTION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800" b="1">
                <a:solidFill>
                  <a:srgbClr val="EDEDF0"/>
                </a:solidFill>
                <a:latin typeface="Inter"/>
              </a:rPr>
              <a:t>Parallel where independent, serial where 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A1A1AA"/>
                </a:solidFill>
                <a:latin typeface="Inter"/>
              </a:rPr>
              <a:t>Four stages per customer. No deterministic rules engine — the LLM produces the score; code supplies tools, memory and guardrails.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9344"/>
            <a:ext cx="2487168" cy="1298448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70992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1">
                <a:solidFill>
                  <a:srgbClr val="7DD3FC"/>
                </a:solidFill>
                <a:latin typeface="Inter"/>
              </a:rPr>
              <a:t>1 · 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956816"/>
            <a:ext cx="2231136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kyc · account · transactions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id_document · rm_notes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correspondence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/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→ one typed Dossier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609344"/>
            <a:ext cx="2487168" cy="1298448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3008" y="170992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1">
                <a:solidFill>
                  <a:srgbClr val="5EEAD4"/>
                </a:solidFill>
                <a:latin typeface="Inter"/>
              </a:rPr>
              <a:t>2 · RETRIEVE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1956816"/>
            <a:ext cx="2231136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per-customer history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similar past cases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lessons learned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/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reference cheat-sheets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609344"/>
            <a:ext cx="2487168" cy="1298448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70992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1">
                <a:solidFill>
                  <a:srgbClr val="C4B5FD"/>
                </a:solidFill>
                <a:latin typeface="Inter"/>
              </a:rPr>
              <a:t>3 · INVESTIGATE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956816"/>
            <a:ext cx="2231136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3 specialists — PARALLEL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   KYC · transactions · docs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/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orchestrator — SERIAL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   tools → finalize()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97696" y="1609344"/>
            <a:ext cx="2487168" cy="1298448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25712" y="170992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1">
                <a:solidFill>
                  <a:srgbClr val="FDBA74"/>
                </a:solidFill>
                <a:latin typeface="Inter"/>
              </a:rPr>
              <a:t>4 · DECIDE + LEARN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1956816"/>
            <a:ext cx="2231136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conf ≥ 0.60 → auto-dispose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conf &lt; 0.60 → human queue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/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correction → memory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072384" y="2185416"/>
            <a:ext cx="256032" cy="146304"/>
          </a:xfrm>
          <a:prstGeom prst="rightArrow">
            <a:avLst/>
          </a:prstGeom>
          <a:solidFill>
            <a:srgbClr val="323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5888736" y="2185416"/>
            <a:ext cx="256032" cy="146304"/>
          </a:xfrm>
          <a:prstGeom prst="rightArrow">
            <a:avLst/>
          </a:prstGeom>
          <a:solidFill>
            <a:srgbClr val="323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8705088" y="2185416"/>
            <a:ext cx="256032" cy="146304"/>
          </a:xfrm>
          <a:prstGeom prst="rightArrow">
            <a:avLst/>
          </a:prstGeom>
          <a:solidFill>
            <a:srgbClr val="323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145536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71717A"/>
                </a:solidFill>
                <a:latin typeface="Inter"/>
              </a:rPr>
              <a:t>WHY TWO DIFFERENT TOPOLOGIES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3383280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E4E4E7"/>
                </a:solidFill>
                <a:latin typeface="Inter"/>
              </a:rPr>
              <a:t>3 Specialists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338328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E4E4E7"/>
                </a:solidFill>
                <a:latin typeface="Inter"/>
              </a:rPr>
              <a:t>1 Orchestrator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593592"/>
            <a:ext cx="5358384" cy="265176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621024"/>
            <a:ext cx="10515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1">
                <a:solidFill>
                  <a:srgbClr val="71717A"/>
                </a:solidFill>
                <a:latin typeface="Inter"/>
              </a:rPr>
              <a:t>Execution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3621024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3 calls in parallel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362102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serial loop, one call at a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904488"/>
            <a:ext cx="10515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1">
                <a:solidFill>
                  <a:srgbClr val="71717A"/>
                </a:solidFill>
                <a:latin typeface="Inter"/>
              </a:rPr>
              <a:t>Sees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3904488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only its own slice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3904488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all 3 opinions + dossier + tools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160520"/>
            <a:ext cx="5358384" cy="265176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187952"/>
            <a:ext cx="10515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1">
                <a:solidFill>
                  <a:srgbClr val="71717A"/>
                </a:solidFill>
                <a:latin typeface="Inter"/>
              </a:rPr>
              <a:t>Returns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4187952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SpecialistOpinion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3320" y="4187952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RiskFinding via finalize()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4471416"/>
            <a:ext cx="10515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1">
                <a:solidFill>
                  <a:srgbClr val="71717A"/>
                </a:solidFill>
                <a:latin typeface="Inter"/>
              </a:rPr>
              <a:t>Why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4471416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speed, no cross-talk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3320" y="4471416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each result informs the next question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145536"/>
            <a:ext cx="53766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71717A"/>
                </a:solidFill>
                <a:latin typeface="Inter"/>
              </a:rPr>
              <a:t>LAYERED MEMORY — 5 TIERS, 3 STORES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3640" y="3401568"/>
            <a:ext cx="5376672" cy="301752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373368" y="3502152"/>
            <a:ext cx="91440" cy="91440"/>
          </a:xfrm>
          <a:prstGeom prst="roundRect">
            <a:avLst>
              <a:gd name="adj" fmla="val 6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65392" y="3447288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00" b="1">
                <a:solidFill>
                  <a:srgbClr val="EDEDF0"/>
                </a:solidFill>
                <a:latin typeface="Inter"/>
              </a:rPr>
              <a:t>Working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26679" y="3447288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notes during this run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28048" y="344728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00" b="0">
                <a:solidFill>
                  <a:srgbClr val="A1A1AA"/>
                </a:solidFill>
                <a:latin typeface="Consolas"/>
              </a:rPr>
              <a:t>Redis scratchpad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44784" y="3447288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750" b="0">
                <a:solidFill>
                  <a:srgbClr val="71717A"/>
                </a:solidFill>
                <a:latin typeface="Inter"/>
              </a:rPr>
              <a:t>evicted on exit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3739896"/>
            <a:ext cx="5376672" cy="301752"/>
          </a:xfrm>
          <a:prstGeom prst="roundRect">
            <a:avLst>
              <a:gd name="adj" fmla="val 6000"/>
            </a:avLst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373368" y="3840480"/>
            <a:ext cx="91440" cy="91440"/>
          </a:xfrm>
          <a:prstGeom prst="roundRect">
            <a:avLst>
              <a:gd name="adj" fmla="val 6000"/>
            </a:avLst>
          </a:prstGeom>
          <a:solidFill>
            <a:srgbClr val="717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65392" y="3785616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00" b="1">
                <a:solidFill>
                  <a:srgbClr val="EDEDF0"/>
                </a:solidFill>
                <a:latin typeface="Inter"/>
              </a:rPr>
              <a:t>Per-customer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26679" y="3785616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this customer's history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28048" y="3785616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00" b="0">
                <a:solidFill>
                  <a:srgbClr val="A1A1AA"/>
                </a:solidFill>
                <a:latin typeface="Consolas"/>
              </a:rPr>
              <a:t>SQLite assessments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44784" y="3785616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750" b="0">
                <a:solidFill>
                  <a:srgbClr val="71717A"/>
                </a:solidFill>
                <a:latin typeface="Inter"/>
              </a:rPr>
              <a:t>permanent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63640" y="4078224"/>
            <a:ext cx="5376672" cy="301752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373368" y="4178808"/>
            <a:ext cx="91440" cy="9144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65392" y="412394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00" b="1">
                <a:solidFill>
                  <a:srgbClr val="EDEDF0"/>
                </a:solidFill>
                <a:latin typeface="Inter"/>
              </a:rPr>
              <a:t>Episodic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26679" y="4123944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similar cases + corrections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28048" y="4123944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00" b="0">
                <a:solidFill>
                  <a:srgbClr val="A1A1AA"/>
                </a:solidFill>
                <a:latin typeface="Consolas"/>
              </a:rPr>
              <a:t>case bank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44784" y="4123944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750" b="0">
                <a:solidFill>
                  <a:srgbClr val="71717A"/>
                </a:solidFill>
                <a:latin typeface="Inter"/>
              </a:rPr>
              <a:t>permanent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63640" y="4416551"/>
            <a:ext cx="5376672" cy="301752"/>
          </a:xfrm>
          <a:prstGeom prst="roundRect">
            <a:avLst>
              <a:gd name="adj" fmla="val 6000"/>
            </a:avLst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373368" y="4517135"/>
            <a:ext cx="91440" cy="91440"/>
          </a:xfrm>
          <a:prstGeom prst="roundRect">
            <a:avLst>
              <a:gd name="adj" fmla="val 6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65392" y="4462271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00" b="1">
                <a:solidFill>
                  <a:srgbClr val="EDEDF0"/>
                </a:solidFill>
                <a:latin typeface="Inter"/>
              </a:rPr>
              <a:t>Semantic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26679" y="4462271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typology defs, risk lists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28048" y="4462271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00" b="0">
                <a:solidFill>
                  <a:srgbClr val="A1A1AA"/>
                </a:solidFill>
                <a:latin typeface="Consolas"/>
              </a:rPr>
              <a:t>static files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44784" y="4462271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750" b="0">
                <a:solidFill>
                  <a:srgbClr val="71717A"/>
                </a:solidFill>
                <a:latin typeface="Inter"/>
              </a:rPr>
              <a:t>static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63640" y="4754880"/>
            <a:ext cx="5376672" cy="301752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373368" y="4855464"/>
            <a:ext cx="91440" cy="91440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65392" y="480060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00" b="1">
                <a:solidFill>
                  <a:srgbClr val="EDEDF0"/>
                </a:solidFill>
                <a:latin typeface="Inter"/>
              </a:rPr>
              <a:t>Procedural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26679" y="4800600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lessons from corrections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28048" y="4800600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00" b="0">
                <a:solidFill>
                  <a:srgbClr val="A1A1AA"/>
                </a:solidFill>
                <a:latin typeface="Consolas"/>
              </a:rPr>
              <a:t>lessons table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844784" y="480060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750" b="0">
                <a:solidFill>
                  <a:srgbClr val="71717A"/>
                </a:solidFill>
                <a:latin typeface="Inter"/>
              </a:rPr>
              <a:t>grows with use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48640" y="4974336"/>
            <a:ext cx="5486400" cy="969264"/>
          </a:xfrm>
          <a:prstGeom prst="roundRect">
            <a:avLst>
              <a:gd name="adj" fmla="val 6000"/>
            </a:avLst>
          </a:prstGeom>
          <a:solidFill>
            <a:srgbClr val="1A1A1D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49808" y="5074920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00" b="1">
                <a:solidFill>
                  <a:srgbClr val="71717A"/>
                </a:solidFill>
                <a:latin typeface="Inter"/>
              </a:rPr>
              <a:t>THE KEY DESIGN DECISION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9808" y="5285232"/>
            <a:ext cx="5138928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0" b="0">
                <a:solidFill>
                  <a:srgbClr val="A1A1AA"/>
                </a:solidFill>
                <a:latin typeface="Inter"/>
              </a:rPr>
              <a:t>The orchestrator is </a:t>
            </a:r>
            <a:r>
              <a:rPr sz="950" b="1">
                <a:solidFill>
                  <a:srgbClr val="EDEDF0"/>
                </a:solidFill>
                <a:latin typeface="Inter"/>
              </a:rPr>
              <a:t>serial</a:t>
            </a:r>
            <a:r>
              <a:rPr sz="950" b="0">
                <a:solidFill>
                  <a:srgbClr val="A1A1AA"/>
                </a:solidFill>
                <a:latin typeface="Inter"/>
              </a:rPr>
              <a:t> because investigation is inherently sequential — you cannot know which document to open until you have seen the transactions. The specialists are </a:t>
            </a:r>
            <a:r>
              <a:rPr sz="950" b="1">
                <a:solidFill>
                  <a:srgbClr val="EDEDF0"/>
                </a:solidFill>
                <a:latin typeface="Inter"/>
              </a:rPr>
              <a:t>parallel</a:t>
            </a:r>
            <a:r>
              <a:rPr sz="950" b="0">
                <a:solidFill>
                  <a:srgbClr val="A1A1AA"/>
                </a:solidFill>
                <a:latin typeface="Inter"/>
              </a:rPr>
              <a:t> because their domains are independent.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263640" y="4974336"/>
            <a:ext cx="5376672" cy="969264"/>
          </a:xfrm>
          <a:prstGeom prst="roundRect">
            <a:avLst>
              <a:gd name="adj" fmla="val 6000"/>
            </a:avLst>
          </a:prstGeom>
          <a:solidFill>
            <a:srgbClr val="1A1A1D"/>
          </a:solidFill>
          <a:ln w="9525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64808" y="5074920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00" b="1">
                <a:solidFill>
                  <a:srgbClr val="71717A"/>
                </a:solidFill>
                <a:latin typeface="Inter"/>
              </a:rPr>
              <a:t>WHY MEMORY IS RETRIEVED FIRST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64808" y="5285232"/>
            <a:ext cx="50292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0" b="0">
                <a:solidFill>
                  <a:srgbClr val="A1A1AA"/>
                </a:solidFill>
                <a:latin typeface="Inter"/>
              </a:rPr>
              <a:t>Memory is loaded </a:t>
            </a:r>
            <a:r>
              <a:rPr sz="950" b="1">
                <a:solidFill>
                  <a:srgbClr val="EDEDF0"/>
                </a:solidFill>
                <a:latin typeface="Inter"/>
              </a:rPr>
              <a:t>before</a:t>
            </a:r>
            <a:r>
              <a:rPr sz="950" b="0">
                <a:solidFill>
                  <a:srgbClr val="A1A1AA"/>
                </a:solidFill>
                <a:latin typeface="Inter"/>
              </a:rPr>
              <a:t> the specialists run, so every LLM call in the pipeline sees the same context — past assessments, verified precedents, and lessons from corrections. That is what makes this a system rather than a prompt.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71717A"/>
                </a:solidFill>
                <a:latin typeface="Inter"/>
              </a:rPr>
              <a:t>03 · KEY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800" b="1">
                <a:solidFill>
                  <a:srgbClr val="EDEDF0"/>
                </a:solidFill>
                <a:latin typeface="Inter"/>
              </a:rPr>
              <a:t>It investigates, cites its evidence, and shows the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A1A1AA"/>
                </a:solidFill>
                <a:latin typeface="Inter"/>
              </a:rPr>
              <a:t>A real trace from CUST_018 — an Iranian arms dealer. Every step is recorded; the trace is the audit record.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72768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71717A"/>
                </a:solidFill>
                <a:latin typeface="Inter"/>
              </a:rPr>
              <a:t>THE LOOP — ACTUAL TRACE, 12 STEPS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669280" cy="292608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800" b="1">
                <a:solidFill>
                  <a:srgbClr val="71717A"/>
                </a:solidFill>
                <a:latin typeface="Inte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74520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1">
                <a:solidFill>
                  <a:srgbClr val="C4B5FD"/>
                </a:solidFill>
                <a:latin typeface="Consolas"/>
              </a:rPr>
              <a:t>read_document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6624" y="1874520"/>
            <a:ext cx="343814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id_document.txt — Iranian passport, valid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76272"/>
            <a:ext cx="5669280" cy="292608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2199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800" b="1">
                <a:solidFill>
                  <a:srgbClr val="71717A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221992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1">
                <a:solidFill>
                  <a:srgbClr val="C4B5FD"/>
                </a:solidFill>
                <a:latin typeface="Consolas"/>
              </a:rPr>
              <a:t>read_document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6624" y="2221992"/>
            <a:ext cx="343814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rm_notes.txt — RM flags poor source of funds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523744"/>
            <a:ext cx="5669280" cy="292608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569464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800" b="1">
                <a:solidFill>
                  <a:srgbClr val="71717A"/>
                </a:solidFill>
                <a:latin typeface="Inter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569464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1">
                <a:solidFill>
                  <a:srgbClr val="C4B5FD"/>
                </a:solidFill>
                <a:latin typeface="Consolas"/>
              </a:rPr>
              <a:t>query_transactions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6624" y="2569464"/>
            <a:ext cx="343814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31 transactions, £62,174 in credits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871216"/>
            <a:ext cx="5669280" cy="292608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916936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800" b="1">
                <a:solidFill>
                  <a:srgbClr val="71717A"/>
                </a:solidFill>
                <a:latin typeface="Inter"/>
              </a:rPr>
              <a:t>4-9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916936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1">
                <a:solidFill>
                  <a:srgbClr val="C4B5FD"/>
                </a:solidFill>
                <a:latin typeface="Consolas"/>
              </a:rPr>
              <a:t>query_transactions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06624" y="2916936"/>
            <a:ext cx="343814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filtered 6 ways: cash, counterparty, window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218688"/>
            <a:ext cx="5669280" cy="292608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264408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800" b="1">
                <a:solidFill>
                  <a:srgbClr val="71717A"/>
                </a:solidFill>
                <a:latin typeface="Inter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264408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1">
                <a:solidFill>
                  <a:srgbClr val="C4B5FD"/>
                </a:solidFill>
                <a:latin typeface="Consolas"/>
              </a:rPr>
              <a:t>find_txn_patterns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06624" y="3264408"/>
            <a:ext cx="343814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STRUCTURING candidate, strength 1.0, S00–S03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566160"/>
            <a:ext cx="5669280" cy="292608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61188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800" b="1">
                <a:solidFill>
                  <a:srgbClr val="71717A"/>
                </a:solidFill>
                <a:latin typeface="Inter"/>
              </a:rP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3611880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1">
                <a:solidFill>
                  <a:srgbClr val="C4B5FD"/>
                </a:solidFill>
                <a:latin typeface="Consolas"/>
              </a:rPr>
              <a:t>note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06624" y="3611880"/>
            <a:ext cx="343814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“4 sub-threshold deposits in 6 days”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913632"/>
            <a:ext cx="5669280" cy="292608"/>
          </a:xfrm>
          <a:prstGeom prst="roundRect">
            <a:avLst>
              <a:gd name="adj" fmla="val 6000"/>
            </a:avLst>
          </a:prstGeom>
          <a:solidFill>
            <a:srgbClr val="1A1A1D"/>
          </a:solidFill>
          <a:ln w="95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95935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800" b="1">
                <a:solidFill>
                  <a:srgbClr val="71717A"/>
                </a:solidFill>
                <a:latin typeface="Inter"/>
              </a:rPr>
              <a:t>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3959352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1">
                <a:solidFill>
                  <a:srgbClr val="EF4444"/>
                </a:solidFill>
                <a:latin typeface="Consolas"/>
              </a:rPr>
              <a:t>finalize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06624" y="3959352"/>
            <a:ext cx="343814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0">
                <a:solidFill>
                  <a:srgbClr val="EDEDF0"/>
                </a:solidFill>
                <a:latin typeface="Inter"/>
              </a:rPr>
              <a:t>score 83 · HIGH · ESCALATE · conf 0.85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1572768"/>
            <a:ext cx="510235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71717A"/>
                </a:solidFill>
                <a:latin typeface="Inter"/>
              </a:rPr>
              <a:t>OUTPUT — A DECISION THAT CARRIES ITS EVIDENCE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37960" y="1828800"/>
            <a:ext cx="5102352" cy="1280160"/>
          </a:xfrm>
          <a:prstGeom prst="roundRect">
            <a:avLst>
              <a:gd name="adj" fmla="val 6000"/>
            </a:avLst>
          </a:prstGeom>
          <a:solidFill>
            <a:srgbClr val="1A1A1D"/>
          </a:solidFill>
          <a:ln w="95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190195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EF4444"/>
                </a:solidFill>
                <a:latin typeface="Inter"/>
              </a:rPr>
              <a:t>83</a:t>
            </a:r>
            <a:r>
              <a:rPr sz="1100" b="0">
                <a:solidFill>
                  <a:srgbClr val="71717A"/>
                </a:solidFill>
                <a:latin typeface="Inter"/>
              </a:rPr>
              <a:t> / 100</a:t>
            </a:r>
            <a:r>
              <a:rPr sz="1200" b="1">
                <a:solidFill>
                  <a:srgbClr val="EF4444"/>
                </a:solidFill>
                <a:latin typeface="Inter"/>
              </a:rPr>
              <a:t>    HIGH · ESCALATE</a:t>
            </a:r>
            <a:r>
              <a:rPr sz="1000" b="0">
                <a:solidFill>
                  <a:srgbClr val="A1A1AA"/>
                </a:solidFill>
                <a:latin typeface="Inter"/>
              </a:rPr>
              <a:t>   conf 0.85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2304288"/>
            <a:ext cx="477316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0">
                <a:solidFill>
                  <a:srgbClr val="71717A"/>
                </a:solidFill>
                <a:latin typeface="Consolas"/>
              </a:rPr>
              <a:t>evidence_refs: </a:t>
            </a:r>
            <a:r>
              <a:rPr sz="800" b="0">
                <a:solidFill>
                  <a:srgbClr val="22C55E"/>
                </a:solidFill>
                <a:latin typeface="Consolas"/>
              </a:rPr>
              <a:t>CUST_018-S00, S01, S02, S03, rm_notes.txt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0">
                <a:solidFill>
                  <a:srgbClr val="71717A"/>
                </a:solidFill>
                <a:latin typeface="Consolas"/>
              </a:rPr>
              <a:t>key_signals: </a:t>
            </a:r>
            <a:r>
              <a:rPr sz="800" b="0">
                <a:solidFill>
                  <a:srgbClr val="A1A1AA"/>
                </a:solidFill>
                <a:latin typeface="Consolas"/>
              </a:rPr>
              <a:t>Iran high-risk jurisdiction · arms dealer occupation · confirmed structuring ($37k across 4 deposits in 6 days)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3273552"/>
            <a:ext cx="510235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71717A"/>
                </a:solidFill>
                <a:latin typeface="Inter"/>
              </a:rPr>
              <a:t>FOUR GUARDRAILS THAT MAKE IT TRUSTWORTHY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37960" y="3529584"/>
            <a:ext cx="5102352" cy="457200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323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3593592"/>
            <a:ext cx="48371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2C55E"/>
                </a:solidFill>
                <a:latin typeface="Inter"/>
              </a:rPr>
              <a:t>Citation check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3794760"/>
            <a:ext cx="4855464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800" b="0">
                <a:solidFill>
                  <a:srgbClr val="A1A1AA"/>
                </a:solidFill>
                <a:latin typeface="Inter"/>
              </a:rPr>
              <a:t>evidence_refs validated against what the tools actually returned — fabrications rejected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37960" y="4032504"/>
            <a:ext cx="5102352" cy="457200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323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4096512"/>
            <a:ext cx="48371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2C55E"/>
                </a:solidFill>
                <a:latin typeface="Inter"/>
              </a:rPr>
              <a:t>Bounded loop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4297680"/>
            <a:ext cx="4855464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800" b="0">
                <a:solidFill>
                  <a:srgbClr val="A1A1AA"/>
                </a:solidFill>
                <a:latin typeface="Inter"/>
              </a:rPr>
              <a:t>12 steps max; exceeding it routes to a human, never loops forever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37960" y="4535424"/>
            <a:ext cx="5102352" cy="457200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323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5120" y="4599432"/>
            <a:ext cx="48371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2C55E"/>
                </a:solidFill>
                <a:latin typeface="Inter"/>
              </a:rPr>
              <a:t>Never blank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4800600"/>
            <a:ext cx="4855464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800" b="0">
                <a:solidFill>
                  <a:srgbClr val="A1A1AA"/>
                </a:solidFill>
                <a:latin typeface="Inter"/>
              </a:rPr>
              <a:t>any exception still produces a valid decision, routed to review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37960" y="5038344"/>
            <a:ext cx="5102352" cy="457200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323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0" y="5102352"/>
            <a:ext cx="48371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2C55E"/>
                </a:solidFill>
                <a:latin typeface="Inter"/>
              </a:rPr>
              <a:t>Facts, not verdicts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5120" y="5303520"/>
            <a:ext cx="4855464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800" b="0">
                <a:solidFill>
                  <a:srgbClr val="A1A1AA"/>
                </a:solidFill>
                <a:latin typeface="Inter"/>
              </a:rPr>
              <a:t>find_txn_patterns returns candidates the agent must judge and cite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4443984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71717A"/>
                </a:solidFill>
                <a:latin typeface="Inter"/>
              </a:rPr>
              <a:t>IT WORKS END-TO-END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4681728"/>
            <a:ext cx="1088136" cy="566928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323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4736592"/>
            <a:ext cx="9052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700" b="1">
                <a:solidFill>
                  <a:srgbClr val="71717A"/>
                </a:solidFill>
                <a:latin typeface="Inter"/>
              </a:rPr>
              <a:t>SCORED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4901184"/>
            <a:ext cx="905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EDEDF0"/>
                </a:solidFill>
                <a:latin typeface="Inter"/>
              </a:rPr>
              <a:t>22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691640" y="4681728"/>
            <a:ext cx="1088136" cy="566928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323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783080" y="4736592"/>
            <a:ext cx="9052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700" b="1">
                <a:solidFill>
                  <a:srgbClr val="71717A"/>
                </a:solidFill>
                <a:latin typeface="Inter"/>
              </a:rPr>
              <a:t>AUTO-CLEARED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783080" y="4901184"/>
            <a:ext cx="905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22C55E"/>
                </a:solidFill>
                <a:latin typeface="Inter"/>
              </a:rPr>
              <a:t>27%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834640" y="4681728"/>
            <a:ext cx="1088136" cy="566928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323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26080" y="4736592"/>
            <a:ext cx="9052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700" b="1">
                <a:solidFill>
                  <a:srgbClr val="71717A"/>
                </a:solidFill>
                <a:latin typeface="Inter"/>
              </a:rPr>
              <a:t>ESCALATED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26080" y="4901184"/>
            <a:ext cx="905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EF4444"/>
                </a:solidFill>
                <a:latin typeface="Inter"/>
              </a:rPr>
              <a:t>3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977640" y="4681728"/>
            <a:ext cx="1088136" cy="566928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323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069080" y="4736592"/>
            <a:ext cx="9052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700" b="1">
                <a:solidFill>
                  <a:srgbClr val="71717A"/>
                </a:solidFill>
                <a:latin typeface="Inter"/>
              </a:rPr>
              <a:t>TO A HUMAN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69080" y="4901184"/>
            <a:ext cx="905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F97316"/>
                </a:solidFill>
                <a:latin typeface="Inter"/>
              </a:rPr>
              <a:t>1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120640" y="4681728"/>
            <a:ext cx="1088136" cy="566928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323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212080" y="4736592"/>
            <a:ext cx="9052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700" b="1">
                <a:solidFill>
                  <a:srgbClr val="71717A"/>
                </a:solidFill>
                <a:latin typeface="Inter"/>
              </a:rPr>
              <a:t>TESTS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80" y="4901184"/>
            <a:ext cx="905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22C55E"/>
                </a:solidFill>
                <a:latin typeface="Inter"/>
              </a:rPr>
              <a:t>14 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548640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71717A"/>
                </a:solidFill>
                <a:latin typeface="Inter"/>
              </a:rPr>
              <a:t>SAME AGENT, OPPOSITE ENDS OF THE QUEUE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48640" y="5724144"/>
            <a:ext cx="5669280" cy="384048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94944" y="5797296"/>
            <a:ext cx="5394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EDEDF0"/>
                </a:solidFill>
                <a:latin typeface="Consolas"/>
              </a:rPr>
              <a:t>CUST_018</a:t>
            </a:r>
            <a:r>
              <a:rPr sz="850" b="0">
                <a:solidFill>
                  <a:srgbClr val="A1A1AA"/>
                </a:solidFill>
                <a:latin typeface="Inter"/>
              </a:rPr>
              <a:t>  arms dealer, Iran → </a:t>
            </a:r>
            <a:r>
              <a:rPr sz="950" b="1">
                <a:solidFill>
                  <a:srgbClr val="EF4444"/>
                </a:solidFill>
                <a:latin typeface="Inter"/>
              </a:rPr>
              <a:t>83 HIGH / ESCALATE</a:t>
            </a:r>
            <a:r>
              <a:rPr sz="850" b="0">
                <a:solidFill>
                  <a:srgbClr val="A1A1AA"/>
                </a:solidFill>
                <a:latin typeface="Inter"/>
              </a:rPr>
              <a:t> @ 0.85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48640" y="6181344"/>
            <a:ext cx="5669280" cy="384048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94944" y="6254496"/>
            <a:ext cx="5394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EDEDF0"/>
                </a:solidFill>
                <a:latin typeface="Consolas"/>
              </a:rPr>
              <a:t>CUST_000</a:t>
            </a:r>
            <a:r>
              <a:rPr sz="850" b="0">
                <a:solidFill>
                  <a:srgbClr val="A1A1AA"/>
                </a:solidFill>
                <a:latin typeface="Inter"/>
              </a:rPr>
              <a:t>  UK teacher, salary → </a:t>
            </a:r>
            <a:r>
              <a:rPr sz="950" b="1">
                <a:solidFill>
                  <a:srgbClr val="22C55E"/>
                </a:solidFill>
                <a:latin typeface="Inter"/>
              </a:rPr>
              <a:t>5 LOW / AUTO_CLEAR</a:t>
            </a:r>
            <a:r>
              <a:rPr sz="850" b="0">
                <a:solidFill>
                  <a:srgbClr val="A1A1AA"/>
                </a:solidFill>
                <a:latin typeface="Inter"/>
              </a:rPr>
              <a:t> @ 0.95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71717A"/>
                </a:solidFill>
                <a:latin typeface="Inter"/>
              </a:rPr>
              <a:t>04 · HUMAN-IN-THE-LOOP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800" b="1">
                <a:solidFill>
                  <a:srgbClr val="EDEDF0"/>
                </a:solidFill>
                <a:latin typeface="Inter"/>
              </a:rPr>
              <a:t>The flywheel: uncertainty becomes training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A1A1AA"/>
                </a:solidFill>
                <a:latin typeface="Inter"/>
              </a:rPr>
              <a:t>Confidence gates the outcome. What the human corrects, the system remembers — three different ways.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2194560" cy="603504"/>
          </a:xfrm>
          <a:prstGeom prst="roundRect">
            <a:avLst>
              <a:gd name="adj" fmla="val 6000"/>
            </a:avLst>
          </a:prstGeom>
          <a:solidFill>
            <a:srgbClr val="1A1A1D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709928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100" b="1">
                <a:solidFill>
                  <a:srgbClr val="EDEDF0"/>
                </a:solidFill>
                <a:latin typeface="Inter"/>
              </a:rPr>
              <a:t>RiskFinding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00" b="0">
                <a:solidFill>
                  <a:srgbClr val="A1A1AA"/>
                </a:solidFill>
                <a:latin typeface="Inter"/>
              </a:rPr>
              <a:t>+ self-reported confidence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16352" y="1856232"/>
            <a:ext cx="256032" cy="146304"/>
          </a:xfrm>
          <a:prstGeom prst="rightArrow">
            <a:avLst/>
          </a:prstGeom>
          <a:solidFill>
            <a:srgbClr val="323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00400" y="1627632"/>
            <a:ext cx="1920240" cy="603504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792224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050" b="1">
                <a:solidFill>
                  <a:srgbClr val="E4E4E7"/>
                </a:solidFill>
                <a:latin typeface="Inter"/>
              </a:rPr>
              <a:t>confidence ≥ 0.60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13248" y="1517904"/>
            <a:ext cx="2432304" cy="502920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41264" y="1618488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2C55E"/>
                </a:solidFill>
                <a:latin typeface="Inter"/>
              </a:rPr>
              <a:t>YES → </a:t>
            </a:r>
            <a:r>
              <a:rPr sz="950" b="0">
                <a:solidFill>
                  <a:srgbClr val="A1A1AA"/>
                </a:solidFill>
                <a:latin typeface="Inter"/>
              </a:rPr>
              <a:t>auto-dispose by band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13248" y="2112264"/>
            <a:ext cx="2432304" cy="502920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41264" y="2212848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F97316"/>
                </a:solidFill>
                <a:latin typeface="Inter"/>
              </a:rPr>
              <a:t>NO → </a:t>
            </a:r>
            <a:r>
              <a:rPr sz="950" b="0">
                <a:solidFill>
                  <a:srgbClr val="A1A1AA"/>
                </a:solidFill>
                <a:latin typeface="Inter"/>
              </a:rPr>
              <a:t>Redis review queue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955279" y="2231136"/>
            <a:ext cx="256032" cy="146304"/>
          </a:xfrm>
          <a:prstGeom prst="rightArrow">
            <a:avLst/>
          </a:prstGeom>
          <a:solidFill>
            <a:srgbClr val="323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21040" y="2029968"/>
            <a:ext cx="3319272" cy="603504"/>
          </a:xfrm>
          <a:prstGeom prst="roundRect">
            <a:avLst>
              <a:gd name="adj" fmla="val 6000"/>
            </a:avLst>
          </a:prstGeom>
          <a:solidFill>
            <a:srgbClr val="1A1A1D"/>
          </a:solidFill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7344" y="2130552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000" b="1">
                <a:solidFill>
                  <a:srgbClr val="EDEDF0"/>
                </a:solidFill>
                <a:latin typeface="Inter"/>
              </a:rPr>
              <a:t>Human sets the correct score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00" b="0">
                <a:solidFill>
                  <a:srgbClr val="A1A1AA"/>
                </a:solidFill>
                <a:latin typeface="Inter"/>
              </a:rPr>
              <a:t>nothing is hidden from the reviewer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889504"/>
            <a:ext cx="5486400" cy="1225296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323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2990088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00" b="1">
                <a:solidFill>
                  <a:srgbClr val="71717A"/>
                </a:solidFill>
                <a:latin typeface="Inter"/>
              </a:rPr>
              <a:t>WHY GATE ON CONFIDENCE, NOT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218688"/>
            <a:ext cx="515721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0" b="0">
                <a:solidFill>
                  <a:srgbClr val="A1A1AA"/>
                </a:solidFill>
                <a:latin typeface="Inter"/>
              </a:rPr>
              <a:t>A score of 58 is not automatically uncertain — the agent may be very confident it is a 58. What matters is whether </a:t>
            </a:r>
            <a:r>
              <a:rPr sz="950" b="1">
                <a:solidFill>
                  <a:srgbClr val="EDEDF0"/>
                </a:solidFill>
                <a:latin typeface="Inter"/>
              </a:rPr>
              <a:t>the evidence supports the conclusion</a:t>
            </a:r>
            <a:r>
              <a:rPr sz="950" b="0">
                <a:solidFill>
                  <a:srgbClr val="A1A1AA"/>
                </a:solidFill>
                <a:latin typeface="Inter"/>
              </a:rPr>
              <a:t>. Confidence is the agent's own self-report, and the prompt tells it that low-confidence cases go to a human — so </a:t>
            </a:r>
            <a:r>
              <a:rPr sz="950" b="1">
                <a:solidFill>
                  <a:srgbClr val="22C55E"/>
                </a:solidFill>
                <a:latin typeface="Inter"/>
              </a:rPr>
              <a:t>admitting uncertainty is the rewarded behaviour</a:t>
            </a:r>
            <a:r>
              <a:rPr sz="950" b="0">
                <a:solidFill>
                  <a:srgbClr val="A1A1AA"/>
                </a:solidFill>
                <a:latin typeface="Inter"/>
              </a:rPr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79392"/>
            <a:ext cx="5486400" cy="969264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323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4379976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00" b="1">
                <a:solidFill>
                  <a:srgbClr val="71717A"/>
                </a:solidFill>
                <a:latin typeface="Inter"/>
              </a:rPr>
              <a:t>WHAT THE REVIEWER SEES — NOTHING IS HIDDEN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599432"/>
            <a:ext cx="5157216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0" b="0">
                <a:solidFill>
                  <a:srgbClr val="A1A1AA"/>
                </a:solidFill>
                <a:latin typeface="Inter"/>
              </a:rPr>
              <a:t>The proposed score and confidence · all three specialist opinions, including where they disagreed · the complete tool-call trace · the agent's own working notes · the memory that was injected into the prompt.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889504"/>
            <a:ext cx="53766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71717A"/>
                </a:solidFill>
                <a:latin typeface="Inter"/>
              </a:rPr>
              <a:t>ONE CORRECTION → THREE LEARNING PATHS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145536"/>
            <a:ext cx="5376672" cy="493776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323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145536"/>
            <a:ext cx="38100" cy="4937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209544"/>
            <a:ext cx="50657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EDEDF0"/>
                </a:solidFill>
                <a:latin typeface="Inter"/>
              </a:rPr>
              <a:t>1 · human-verified episode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410712"/>
            <a:ext cx="508406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future similar customers retrieve it as a few-shot example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3694176"/>
            <a:ext cx="5376672" cy="493776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323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3694176"/>
            <a:ext cx="38100" cy="49377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758184"/>
            <a:ext cx="50657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EDEDF0"/>
                </a:solidFill>
                <a:latin typeface="Inter"/>
              </a:rPr>
              <a:t>2 · a lesson (frisk reflect)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959352"/>
            <a:ext cx="508406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distilled and injected into every future orchestrator prompt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4242816"/>
            <a:ext cx="5376672" cy="493776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323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4242816"/>
            <a:ext cx="38100" cy="49377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4306824"/>
            <a:ext cx="50657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EDEDF0"/>
                </a:solidFill>
                <a:latin typeface="Inter"/>
              </a:rPr>
              <a:t>3 · a row in customer history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4507992"/>
            <a:ext cx="508406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the next assessment of that customer sees what changed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4791456"/>
            <a:ext cx="537667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0">
                <a:solidFill>
                  <a:srgbClr val="71717A"/>
                </a:solidFill>
                <a:latin typeface="Inter"/>
              </a:rPr>
              <a:t>Most systems have one of these. Three means one correction improves </a:t>
            </a:r>
            <a:r>
              <a:rPr sz="850" b="1">
                <a:solidFill>
                  <a:srgbClr val="A1A1AA"/>
                </a:solidFill>
                <a:latin typeface="Inter"/>
              </a:rPr>
              <a:t>similar cases, all cases, and this case</a:t>
            </a:r>
            <a:r>
              <a:rPr sz="850" b="0">
                <a:solidFill>
                  <a:srgbClr val="71717A"/>
                </a:solidFill>
                <a:latin typeface="Inter"/>
              </a:rPr>
              <a:t> at once.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5138928"/>
            <a:ext cx="5376672" cy="1060704"/>
          </a:xfrm>
          <a:prstGeom prst="roundRect">
            <a:avLst>
              <a:gd name="adj" fmla="val 6000"/>
            </a:avLst>
          </a:prstGeom>
          <a:solidFill>
            <a:srgbClr val="1A1A1D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523951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00" b="1">
                <a:solidFill>
                  <a:srgbClr val="22C55E"/>
                </a:solidFill>
                <a:latin typeface="Inter"/>
              </a:rPr>
              <a:t>ANTI-ECHO-CHAMBER GUARD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5458968"/>
            <a:ext cx="51206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0" b="0">
                <a:solidFill>
                  <a:srgbClr val="A1A1AA"/>
                </a:solidFill>
                <a:latin typeface="Inter"/>
              </a:rPr>
              <a:t>Episodic few-shot draws only from human-verified cases. The system never learns from its own unreviewed output, so its mistakes cannot compound into false precedent. Every decision — cleared as well as escalated — is written to an append-only audit log.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71717A"/>
                </a:solidFill>
                <a:latin typeface="Inter"/>
              </a:rPr>
              <a:t>05 · CHALLENGES &amp; LEARNINGS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800" b="1">
                <a:solidFill>
                  <a:srgbClr val="EDEDF0"/>
                </a:solidFill>
                <a:latin typeface="Inter"/>
              </a:rPr>
              <a:t>Four things that broke, and what they taught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A1A1AA"/>
                </a:solidFill>
                <a:latin typeface="Inter"/>
              </a:rPr>
              <a:t>Each challenge below changed the design — these are not hypotheticals, they are bugs that shipped and were fixed.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7276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71717A"/>
                </a:solidFill>
                <a:latin typeface="Inter"/>
              </a:rPr>
              <a:t>CHALLENGES THAT CHANGED THE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6035040" cy="1042415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323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38100" cy="104241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01952"/>
            <a:ext cx="5715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1">
                <a:solidFill>
                  <a:srgbClr val="EF4444"/>
                </a:solidFill>
                <a:latin typeface="Inter"/>
              </a:rPr>
              <a:t>1 · The agent that never finished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103120"/>
            <a:ext cx="57424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Runs hit the 12-step cap mid-investigation and returned score 0 at confidence 0 — which the router read as a legitimate “uncertain” case. A silent failure disguised as a valid decision.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596896"/>
            <a:ext cx="57424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850" b="0">
                <a:solidFill>
                  <a:srgbClr val="22C55E"/>
                </a:solidFill>
                <a:latin typeface="Inter"/>
              </a:rPr>
              <a:t>Fix: in the final two turns, finalize is the only bound tool. A bounded loop needs a forced exit, not just a cap.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80944"/>
            <a:ext cx="6035040" cy="1042415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323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980944"/>
            <a:ext cx="38100" cy="1042415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054096"/>
            <a:ext cx="5715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1">
                <a:solidFill>
                  <a:srgbClr val="F97316"/>
                </a:solidFill>
                <a:latin typeface="Inter"/>
              </a:rPr>
              <a:t>2 · A deleted feature that would not die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255264"/>
            <a:ext cx="57424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Sanctions screening was cut from scope but kept appearing in output — three ghosts: a {} default in the loader, a stray phrase in a reference file, and a stale LLM cache.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749040"/>
            <a:ext cx="57424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850" b="0">
                <a:solidFill>
                  <a:srgbClr val="22C55E"/>
                </a:solidFill>
                <a:latin typeface="Inter"/>
              </a:rPr>
              <a:t>Fix: purge data, not just code. Added a scope guard to every prompt, then re-scored all 22 customers to verify zero mentions.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33088"/>
            <a:ext cx="6035040" cy="1042415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323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133088"/>
            <a:ext cx="38100" cy="104241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206240"/>
            <a:ext cx="5715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1">
                <a:solidFill>
                  <a:srgbClr val="F59E0B"/>
                </a:solidFill>
                <a:latin typeface="Inter"/>
              </a:rPr>
              <a:t>3 · “It must be rate limiting”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407408"/>
            <a:ext cx="57424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Parallel scoring took 76–90s and I assumed throttling. The data disagreed — no request cap, and 4 concurrent calls took 1.55s vs 1.48s for one. Real cause: serial depth, plus a tool factory rebuilt every call (375ms vs 0.9ms).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901184"/>
            <a:ext cx="57424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850" b="0">
                <a:solidFill>
                  <a:srgbClr val="22C55E"/>
                </a:solidFill>
                <a:latin typeface="Inter"/>
              </a:rPr>
              <a:t>Fix: cache the detectors. That path went from 7500ms to 5ms.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285232"/>
            <a:ext cx="6035040" cy="1042415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323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285232"/>
            <a:ext cx="38100" cy="1042415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358384"/>
            <a:ext cx="5715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1">
                <a:solidFill>
                  <a:srgbClr val="8B5CF6"/>
                </a:solidFill>
                <a:latin typeface="Inter"/>
              </a:rPr>
              <a:t>4 · Learning from its own homework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559552"/>
            <a:ext cx="57424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Episodic retrieval would have surfaced the agent's own unreviewed decisions as precedent, compounding any early error into permanent bias.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6053328"/>
            <a:ext cx="57424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850" b="0">
                <a:solidFill>
                  <a:srgbClr val="22C55E"/>
                </a:solidFill>
                <a:latin typeface="Inter"/>
              </a:rPr>
              <a:t>Fix: restrict episodic retrieval to human-verified cases only.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572768"/>
            <a:ext cx="47823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71717A"/>
                </a:solidFill>
                <a:latin typeface="Inter"/>
              </a:rPr>
              <a:t>LEARNINGS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1828800"/>
            <a:ext cx="4782312" cy="676656"/>
          </a:xfrm>
          <a:prstGeom prst="roundRect">
            <a:avLst>
              <a:gd name="adj" fmla="val 6000"/>
            </a:avLst>
          </a:prstGeom>
          <a:solidFill>
            <a:srgbClr val="1A1A1D"/>
          </a:solidFill>
          <a:ln w="9525">
            <a:solidFill>
              <a:srgbClr val="323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60" y="1892808"/>
            <a:ext cx="45171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1">
                <a:solidFill>
                  <a:srgbClr val="E4E4E7"/>
                </a:solidFill>
                <a:latin typeface="Inter"/>
              </a:rPr>
              <a:t>Give the model facts, not verdicts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2093976"/>
            <a:ext cx="453542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Tools returning candidates the agent must judge and cite produce better reasoning than tools returning conclusions — and the citation is auditable.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2596896"/>
            <a:ext cx="4782312" cy="676656"/>
          </a:xfrm>
          <a:prstGeom prst="roundRect">
            <a:avLst>
              <a:gd name="adj" fmla="val 6000"/>
            </a:avLst>
          </a:prstGeom>
          <a:solidFill>
            <a:srgbClr val="1A1A1D"/>
          </a:solidFill>
          <a:ln w="9525">
            <a:solidFill>
              <a:srgbClr val="323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95160" y="2660904"/>
            <a:ext cx="45171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1">
                <a:solidFill>
                  <a:srgbClr val="E4E4E7"/>
                </a:solidFill>
                <a:latin typeface="Inter"/>
              </a:rPr>
              <a:t>Confidence routes better than score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2862072"/>
            <a:ext cx="453542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A confident 58 needs no human; an unsure 30 does. Routing on certainty rather than severity is what makes escalation meaningful.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3364992"/>
            <a:ext cx="4782312" cy="676656"/>
          </a:xfrm>
          <a:prstGeom prst="roundRect">
            <a:avLst>
              <a:gd name="adj" fmla="val 6000"/>
            </a:avLst>
          </a:prstGeom>
          <a:solidFill>
            <a:srgbClr val="1A1A1D"/>
          </a:solidFill>
          <a:ln w="9525">
            <a:solidFill>
              <a:srgbClr val="323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5160" y="3429000"/>
            <a:ext cx="45171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1">
                <a:solidFill>
                  <a:srgbClr val="E4E4E7"/>
                </a:solidFill>
                <a:latin typeface="Inter"/>
              </a:rPr>
              <a:t>Measure before optimising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3630168"/>
            <a:ext cx="453542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My first latency diagnosis was wrong, and only measurement showed it. The fix I would have shipped would have addressed nothing.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0" y="4133088"/>
            <a:ext cx="4782312" cy="676656"/>
          </a:xfrm>
          <a:prstGeom prst="roundRect">
            <a:avLst>
              <a:gd name="adj" fmla="val 6000"/>
            </a:avLst>
          </a:prstGeom>
          <a:solidFill>
            <a:srgbClr val="1A1A1D"/>
          </a:solidFill>
          <a:ln w="9525">
            <a:solidFill>
              <a:srgbClr val="323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95160" y="4197096"/>
            <a:ext cx="45171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1">
                <a:solidFill>
                  <a:srgbClr val="E4E4E7"/>
                </a:solidFill>
                <a:latin typeface="Inter"/>
              </a:rPr>
              <a:t>In compliance, the trace is the product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4398264"/>
            <a:ext cx="453542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A correct score that cannot be explained is worthless to a regulator. Explainability is not bolted on afterwards; it is the output.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4974336"/>
            <a:ext cx="47823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71717A"/>
                </a:solidFill>
                <a:latin typeface="Inter"/>
              </a:rPr>
              <a:t>HONEST LIMITS → WHAT COMES NEXT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0" y="5212080"/>
            <a:ext cx="4782312" cy="292608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67728" y="525780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1">
                <a:solidFill>
                  <a:srgbClr val="F59E0B"/>
                </a:solidFill>
                <a:latin typeface="Inter"/>
              </a:rPr>
              <a:t>~45–90s per customer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6840" y="525780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batch mode overlaps customers; fewer steps per run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0" y="5541264"/>
            <a:ext cx="4782312" cy="292608"/>
          </a:xfrm>
          <a:prstGeom prst="roundRect">
            <a:avLst>
              <a:gd name="adj" fmla="val 6000"/>
            </a:avLst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67728" y="5586984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1">
                <a:solidFill>
                  <a:srgbClr val="F59E0B"/>
                </a:solidFill>
                <a:latin typeface="Inter"/>
              </a:rPr>
              <a:t>Not byte-reproducible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06840" y="5586984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pin model snapshots; store the full prompt hash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0" y="5870448"/>
            <a:ext cx="4782312" cy="292608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67728" y="5916168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1">
                <a:solidFill>
                  <a:srgbClr val="F59E0B"/>
                </a:solidFill>
                <a:latin typeface="Inter"/>
              </a:rPr>
              <a:t>Episodic recall is feature-match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06840" y="591616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similar() is deliberately vector-pluggable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58000" y="6199632"/>
            <a:ext cx="4782312" cy="292608"/>
          </a:xfrm>
          <a:prstGeom prst="roundRect">
            <a:avLst>
              <a:gd name="adj" fmla="val 6000"/>
            </a:avLst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67728" y="6245352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1">
                <a:solidFill>
                  <a:srgbClr val="F59E0B"/>
                </a:solidFill>
                <a:latin typeface="Inter"/>
              </a:rPr>
              <a:t>Fixed 0.60 confidence gate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06840" y="624535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50" b="0">
                <a:solidFill>
                  <a:srgbClr val="A1A1AA"/>
                </a:solidFill>
                <a:latin typeface="Inter"/>
              </a:rPr>
              <a:t>calibrate against accumulated human corrections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